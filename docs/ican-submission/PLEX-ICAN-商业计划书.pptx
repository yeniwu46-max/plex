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SaaS</c:v>
                </c:pt>
              </c:strCache>
            </c:strRef>
          </c:tx>
          <c:spPr>
            <a:solidFill>
              <a:srgbClr val="0B64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第1年</c:v>
                  </c:pt>
                  <c:pt idx="1">
                    <c:v>第2年</c:v>
                  </c:pt>
                  <c:pt idx="2">
                    <c:v>第3年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</c:v>
                </c:pt>
                <c:pt idx="1">
                  <c:v>360</c:v>
                </c:pt>
                <c:pt idx="2">
                  <c:v>1080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实施/共建</c:v>
                </c:pt>
              </c:strCache>
            </c:strRef>
          </c:tx>
          <c:spPr>
            <a:solidFill>
              <a:srgbClr val="E97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第1年</c:v>
                  </c:pt>
                  <c:pt idx="1">
                    <c:v>第2年</c:v>
                  </c:pt>
                  <c:pt idx="2">
                    <c:v>第3年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30</c:v>
                </c:pt>
                <c:pt idx="1">
                  <c:v>96</c:v>
                </c:pt>
                <c:pt idx="2">
                  <c:v>180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硬件</c:v>
                </c:pt>
              </c:strCache>
            </c:strRef>
          </c:tx>
          <c:spPr>
            <a:solidFill>
              <a:srgbClr val="6FA9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第1年</c:v>
                  </c:pt>
                  <c:pt idx="1">
                    <c:v>第2年</c:v>
                  </c:pt>
                  <c:pt idx="2">
                    <c:v>第3年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24</c:v>
                </c:pt>
                <c:pt idx="1">
                  <c:v>80</c:v>
                </c:pt>
                <c:pt idx="2">
                  <c:v>180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3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C7B5"/>
          </a:solidFill>
          <a:ln w="12700">
            <a:solidFill>
              <a:srgbClr val="18C7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28816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A90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PLEX UNIVERSE · ICAN 创新赛道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0607040" y="652881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A90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商业计划书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1828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7A90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1828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7A90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zhongruan\zhongruan\picture\探索舱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0"/>
            <a:ext cx="629107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897880" y="0"/>
            <a:ext cx="6291072" cy="6858000"/>
          </a:xfrm>
          <a:prstGeom prst="rect">
            <a:avLst/>
          </a:prstGeom>
          <a:solidFill>
            <a:srgbClr val="071824">
              <a:alpha val="72000"/>
            </a:srgbClr>
          </a:solidFill>
          <a:ln w="12700">
            <a:solidFill>
              <a:srgbClr val="07182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7406640" cy="6858000"/>
          </a:xfrm>
          <a:prstGeom prst="rect">
            <a:avLst/>
          </a:prstGeom>
          <a:solidFill>
            <a:srgbClr val="071824"/>
          </a:solidFill>
          <a:ln w="12700">
            <a:solidFill>
              <a:srgbClr val="07182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1792" y="585216"/>
            <a:ext cx="2880360" cy="292608"/>
          </a:xfrm>
          <a:prstGeom prst="roundRect">
            <a:avLst>
              <a:gd name="adj" fmla="val 43750"/>
            </a:avLst>
          </a:prstGeom>
          <a:solidFill>
            <a:srgbClr val="E9792B"/>
          </a:solidFill>
          <a:ln w="12700">
            <a:solidFill>
              <a:srgbClr val="E97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585216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iCAN 大学生创新创业大赛 · 创新赛道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12344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PLEX</a:t>
            </a:r>
            <a:endParaRPr lang="en-US" sz="52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20299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spc="700" kern="0" dirty="0">
                <a:solidFill>
                  <a:srgbClr val="18C7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UNIVERSE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2761488"/>
            <a:ext cx="4800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面向高校编程教育的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个性化学习操作系统</a:t>
            </a:r>
            <a:endParaRPr lang="en-US" sz="2500" dirty="0"/>
          </a:p>
        </p:txBody>
      </p:sp>
      <p:sp>
        <p:nvSpPr>
          <p:cNvPr id="10" name="Text 7"/>
          <p:cNvSpPr txBox="1"/>
          <p:nvPr/>
        </p:nvSpPr>
        <p:spPr>
          <a:xfrm>
            <a:off x="649224" y="3959352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8D7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动态画像 × 知识图谱 × 多智能体 × 教师闭环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4718304"/>
            <a:ext cx="4389120" cy="0"/>
          </a:xfrm>
          <a:prstGeom prst="line">
            <a:avLst/>
          </a:prstGeom>
          <a:noFill/>
          <a:ln w="15240">
            <a:solidFill>
              <a:srgbClr val="0B647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495604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97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商业计划书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551383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FC4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参赛项目：PLEX Universe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FC4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版本：V1.0｜2026 年 8 月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743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E97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EXECUTIVE SUMMARY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52120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一页看懂 PLEX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用可解释、可干预、可迭代的智能学习闭环，解决高校编程教学“教得累、学不准、管不清”。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5285232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8890">
            <a:solidFill>
              <a:srgbClr val="C9D9DE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645920"/>
            <a:ext cx="713232" cy="292608"/>
          </a:xfrm>
          <a:prstGeom prst="roundRect">
            <a:avLst>
              <a:gd name="adj" fmla="val 43750"/>
            </a:avLst>
          </a:prstGeom>
          <a:solidFill>
            <a:srgbClr val="B34232"/>
          </a:solidFill>
          <a:ln w="12700">
            <a:solidFill>
              <a:srgbClr val="B3423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6459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627632" y="1600200"/>
            <a:ext cx="3913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传统平台记录“做了什么”，却难以解释“为什么不会”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44768" y="1481328"/>
            <a:ext cx="5285232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8890">
            <a:solidFill>
              <a:srgbClr val="C9D9DE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45936" y="1645920"/>
            <a:ext cx="713232" cy="292608"/>
          </a:xfrm>
          <a:prstGeom prst="roundRect">
            <a:avLst>
              <a:gd name="adj" fmla="val 43750"/>
            </a:avLst>
          </a:prstGeom>
          <a:solidFill>
            <a:srgbClr val="0B6470"/>
          </a:solidFill>
          <a:ln w="12700">
            <a:solidFill>
              <a:srgbClr val="0B64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45936" y="16459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600200"/>
            <a:ext cx="3913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动态学习画像驱动个性路径；教师始终保有审核与干预权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688336"/>
            <a:ext cx="5285232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8890">
            <a:solidFill>
              <a:srgbClr val="C9D9DE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2852928"/>
            <a:ext cx="713232" cy="292608"/>
          </a:xfrm>
          <a:prstGeom prst="roundRect">
            <a:avLst>
              <a:gd name="adj" fmla="val 43750"/>
            </a:avLst>
          </a:prstGeom>
          <a:solidFill>
            <a:srgbClr val="E9792B"/>
          </a:solidFill>
          <a:ln w="12700">
            <a:solidFill>
              <a:srgbClr val="E979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2852928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1627632" y="2807208"/>
            <a:ext cx="3913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高校计算机院系、职业院校、课程负责人及教务管理者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44768" y="2688336"/>
            <a:ext cx="5285232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8890">
            <a:solidFill>
              <a:srgbClr val="C9D9DE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45936" y="2852928"/>
            <a:ext cx="713232" cy="292608"/>
          </a:xfrm>
          <a:prstGeom prst="roundRect">
            <a:avLst>
              <a:gd name="adj" fmla="val 43750"/>
            </a:avLst>
          </a:prstGeom>
          <a:solidFill>
            <a:srgbClr val="277A58"/>
          </a:solidFill>
          <a:ln w="12700">
            <a:solidFill>
              <a:srgbClr val="277A5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45936" y="2852928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7223760" y="2807208"/>
            <a:ext cx="3913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院校 SaaS 订阅 + 私有化部署 + 课程共建服务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133088"/>
            <a:ext cx="2606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8890">
            <a:solidFill>
              <a:srgbClr val="D4E1E5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4133088"/>
            <a:ext cx="64008" cy="1078992"/>
          </a:xfrm>
          <a:prstGeom prst="rect">
            <a:avLst/>
          </a:prstGeom>
          <a:solidFill>
            <a:srgbClr val="0B6470"/>
          </a:solidFill>
          <a:ln w="12700">
            <a:solidFill>
              <a:srgbClr val="0B647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" y="4279392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2,919 所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749808" y="46908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目标院校基数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49377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 + 职业本科 + 高职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346704" y="4133088"/>
            <a:ext cx="2606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8890">
            <a:solidFill>
              <a:srgbClr val="D4E1E5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46704" y="4133088"/>
            <a:ext cx="64008" cy="1078992"/>
          </a:xfrm>
          <a:prstGeom prst="rect">
            <a:avLst/>
          </a:prstGeom>
          <a:solidFill>
            <a:srgbClr val="E9792B"/>
          </a:solidFill>
          <a:ln w="12700">
            <a:solidFill>
              <a:srgbClr val="E9792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547872" y="4279392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10.8 百万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3547872" y="46908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年 SaaS ARR 目标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3547872" y="49377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 所 × 18 万元/年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144768" y="4133088"/>
            <a:ext cx="2606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8890">
            <a:solidFill>
              <a:srgbClr val="D4E1E5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44768" y="4133088"/>
            <a:ext cx="64008" cy="1078992"/>
          </a:xfrm>
          <a:prstGeom prst="rect">
            <a:avLst/>
          </a:prstGeom>
          <a:solidFill>
            <a:srgbClr val="277A58"/>
          </a:solidFill>
          <a:ln w="12700">
            <a:solidFill>
              <a:srgbClr val="277A5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45936" y="4279392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70%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6345936" y="46908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SaaS 毛利率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6345936" y="49377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规模化阶段管理目标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8942832" y="4133088"/>
            <a:ext cx="2606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8890">
            <a:solidFill>
              <a:srgbClr val="D4E1E5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942832" y="4133088"/>
            <a:ext cx="64008" cy="1078992"/>
          </a:xfrm>
          <a:prstGeom prst="rect">
            <a:avLst/>
          </a:prstGeom>
          <a:solidFill>
            <a:srgbClr val="18C7B5"/>
          </a:solidFill>
          <a:ln w="12700">
            <a:solidFill>
              <a:srgbClr val="18C7B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144000" y="4279392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 万元</a:t>
            </a:r>
            <a:endParaRPr lang="en-US" sz="2200" dirty="0"/>
          </a:p>
        </p:txBody>
      </p:sp>
      <p:sp>
        <p:nvSpPr>
          <p:cNvPr id="39" name="Text 37"/>
          <p:cNvSpPr txBox="1"/>
          <p:nvPr/>
        </p:nvSpPr>
        <p:spPr>
          <a:xfrm>
            <a:off x="9144000" y="46908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拟融资 / 等值资源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9144000" y="49377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用于研发、试点与市场验证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566928" y="565099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42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当前阶段：软件系统已形成可演示闭环；商业化指标为内部测算，须以真实试点和合同验证。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1828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7A90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743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E97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PROBLEM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52120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高校编程教学的三重断层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数据不少，但缺少把“学习行为—能力诊断—教学行动”连起来的系统。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3493008" cy="2999232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8890">
            <a:solidFill>
              <a:srgbClr val="C9D9DE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56232" y="1792224"/>
            <a:ext cx="960120" cy="960120"/>
          </a:xfrm>
          <a:prstGeom prst="ellipse">
            <a:avLst/>
          </a:prstGeom>
          <a:solidFill>
            <a:srgbClr val="0B6470"/>
          </a:solidFill>
          <a:ln w="12700">
            <a:solidFill>
              <a:srgbClr val="0B64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56232" y="1792224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44368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37560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7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路径不清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78408" y="3703320"/>
            <a:ext cx="27249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知道自己“错了”，不知道知识断点在哪里；统一节奏造成掉队或低效重复。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62272" y="1508760"/>
            <a:ext cx="3493008" cy="2999232"/>
          </a:xfrm>
          <a:prstGeom prst="roundRect">
            <a:avLst>
              <a:gd name="adj" fmla="val 2439"/>
            </a:avLst>
          </a:prstGeom>
          <a:solidFill>
            <a:srgbClr val="FFF2E8"/>
          </a:solidFill>
          <a:ln w="8890">
            <a:solidFill>
              <a:srgbClr val="C9D9DE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24144" y="1792224"/>
            <a:ext cx="960120" cy="960120"/>
          </a:xfrm>
          <a:prstGeom prst="ellipse">
            <a:avLst/>
          </a:prstGeom>
          <a:solidFill>
            <a:srgbClr val="E9792B"/>
          </a:solidFill>
          <a:ln w="12700">
            <a:solidFill>
              <a:srgbClr val="E979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24144" y="1792224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690872" y="2944368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90872" y="3337560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7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反馈滞后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3703320"/>
            <a:ext cx="27249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大班教学难以实时识别共性误区，备课、出题、批改与干预重复耗时。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330184" y="1508760"/>
            <a:ext cx="3493008" cy="2999232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8890">
            <a:solidFill>
              <a:srgbClr val="C9D9DE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592056" y="1792224"/>
            <a:ext cx="960120" cy="960120"/>
          </a:xfrm>
          <a:prstGeom prst="ellipse">
            <a:avLst/>
          </a:prstGeom>
          <a:solidFill>
            <a:srgbClr val="102B38"/>
          </a:solidFill>
          <a:ln w="12700">
            <a:solidFill>
              <a:srgbClr val="102B3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592056" y="1792224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8558784" y="2944368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管理者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558784" y="3337560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7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效果难证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714232" y="3703320"/>
            <a:ext cx="27249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过程数据散落，课程改革、资源投入与学习成效之间缺少可追踪证据。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" y="484632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071824"/>
          </a:solidFill>
          <a:ln w="8890">
            <a:solidFill>
              <a:srgbClr val="071824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41248" y="506577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C7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机会窗口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011680" y="4992624"/>
            <a:ext cx="9098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教育数字化进入“智能化、集成化、国际化”阶段，高校需要从工具堆叠走向面向教学结果的闭环系统。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12648" y="594360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D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政策来源：教育部 2026 年全国教育数字化工作会议；《教育强国建设规划纲要（2024—2035年）》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1828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7A90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743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E97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SOLUTION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52120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PLEX：从诊断到干预的学习闭环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不是再做一个题库，而是让每次学习行为都进入可解释、可调整的教学循环。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84632" y="2011680"/>
            <a:ext cx="1051560" cy="1051560"/>
          </a:xfrm>
          <a:prstGeom prst="ellipse">
            <a:avLst/>
          </a:prstGeom>
          <a:solidFill>
            <a:srgbClr val="0B6470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84632" y="211226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C7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84632" y="2368296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7472" y="321868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作答、行为、节奏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45920" y="2368296"/>
            <a:ext cx="338328" cy="310896"/>
          </a:xfrm>
          <a:prstGeom prst="chevron">
            <a:avLst/>
          </a:prstGeom>
          <a:solidFill>
            <a:srgbClr val="C9D9DE"/>
          </a:solidFill>
          <a:ln w="12700">
            <a:solidFill>
              <a:srgbClr val="C9D9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48840" y="2011680"/>
            <a:ext cx="1051560" cy="1051560"/>
          </a:xfrm>
          <a:prstGeom prst="ellipse">
            <a:avLst/>
          </a:prstGeom>
          <a:solidFill>
            <a:srgbClr val="0B6470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148840" y="211226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C7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148840" y="2368296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321868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知识点与能力断点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10128" y="2368296"/>
            <a:ext cx="338328" cy="310896"/>
          </a:xfrm>
          <a:prstGeom prst="chevron">
            <a:avLst/>
          </a:prstGeom>
          <a:solidFill>
            <a:srgbClr val="C9D9DE"/>
          </a:solidFill>
          <a:ln w="12700">
            <a:solidFill>
              <a:srgbClr val="C9D9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13048" y="2011680"/>
            <a:ext cx="1051560" cy="1051560"/>
          </a:xfrm>
          <a:prstGeom prst="ellipse">
            <a:avLst/>
          </a:prstGeom>
          <a:solidFill>
            <a:srgbClr val="0B6470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813048" y="211226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C7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3813048" y="2368296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675888" y="321868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个性化学习路径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74336" y="2368296"/>
            <a:ext cx="338328" cy="310896"/>
          </a:xfrm>
          <a:prstGeom prst="chevron">
            <a:avLst/>
          </a:prstGeom>
          <a:solidFill>
            <a:srgbClr val="C9D9DE"/>
          </a:solidFill>
          <a:ln w="12700">
            <a:solidFill>
              <a:srgbClr val="C9D9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77256" y="2011680"/>
            <a:ext cx="1051560" cy="1051560"/>
          </a:xfrm>
          <a:prstGeom prst="ellipse">
            <a:avLst/>
          </a:prstGeom>
          <a:solidFill>
            <a:srgbClr val="0B6470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477256" y="211226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C7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477256" y="2368296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340096" y="321868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多智能体生产资源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638544" y="2368296"/>
            <a:ext cx="338328" cy="310896"/>
          </a:xfrm>
          <a:prstGeom prst="chevron">
            <a:avLst/>
          </a:prstGeom>
          <a:solidFill>
            <a:srgbClr val="C9D9DE"/>
          </a:solidFill>
          <a:ln w="12700">
            <a:solidFill>
              <a:srgbClr val="C9D9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41464" y="2011680"/>
            <a:ext cx="1051560" cy="1051560"/>
          </a:xfrm>
          <a:prstGeom prst="ellipse">
            <a:avLst/>
          </a:prstGeom>
          <a:solidFill>
            <a:srgbClr val="0B6470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141464" y="211226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C7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141464" y="2368296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004304" y="321868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任务、试炼、复习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302752" y="2368296"/>
            <a:ext cx="338328" cy="310896"/>
          </a:xfrm>
          <a:prstGeom prst="chevron">
            <a:avLst/>
          </a:prstGeom>
          <a:solidFill>
            <a:srgbClr val="C9D9DE"/>
          </a:solidFill>
          <a:ln w="12700">
            <a:solidFill>
              <a:srgbClr val="C9D9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05672" y="2011680"/>
            <a:ext cx="1051560" cy="1051560"/>
          </a:xfrm>
          <a:prstGeom prst="ellipse">
            <a:avLst/>
          </a:prstGeom>
          <a:solidFill>
            <a:srgbClr val="0B6470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805672" y="211226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C7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805672" y="2368296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668512" y="321868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多维评分与反馈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966960" y="2368296"/>
            <a:ext cx="338328" cy="310896"/>
          </a:xfrm>
          <a:prstGeom prst="chevron">
            <a:avLst/>
          </a:prstGeom>
          <a:solidFill>
            <a:srgbClr val="C9D9DE"/>
          </a:solidFill>
          <a:ln w="12700">
            <a:solidFill>
              <a:srgbClr val="C9D9D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69880" y="2011680"/>
            <a:ext cx="1051560" cy="1051560"/>
          </a:xfrm>
          <a:prstGeom prst="ellipse">
            <a:avLst/>
          </a:prstGeom>
          <a:solidFill>
            <a:srgbClr val="E9792B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10469880" y="211226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0469880" y="2368296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10332720" y="321868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教师审核与调整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 rot="10800000">
            <a:off x="960120" y="3611880"/>
            <a:ext cx="10012680" cy="16916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18C7B5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892040" y="4370832"/>
            <a:ext cx="960120" cy="292608"/>
          </a:xfrm>
          <a:prstGeom prst="roundRect">
            <a:avLst>
              <a:gd name="adj" fmla="val 43750"/>
            </a:avLst>
          </a:prstGeom>
          <a:solidFill>
            <a:srgbClr val="E9792B"/>
          </a:solidFill>
          <a:ln w="12700">
            <a:solidFill>
              <a:srgbClr val="E9792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892040" y="437083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关键差异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2770632" y="4800600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教师在环：AI 给出建议，教师拥有发布、修订、驳回与追踪权</a:t>
            </a:r>
            <a:endParaRPr lang="en-US" sz="1700" dirty="0"/>
          </a:p>
        </p:txBody>
      </p:sp>
      <p:sp>
        <p:nvSpPr>
          <p:cNvPr id="43" name="Text 41"/>
          <p:cNvSpPr txBox="1"/>
          <p:nvPr/>
        </p:nvSpPr>
        <p:spPr>
          <a:xfrm>
            <a:off x="2331720" y="5541264"/>
            <a:ext cx="800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系统价值 = 更早发现问题 × 更低干预成本 × 更可证明的学习效果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1828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7A90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743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E97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52120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一个底座，连接学生、教师与管理者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正式产品基于 Vue 3 + Flask 构建，覆盖学习、教学管理和系统治理。</a:t>
            </a:r>
            <a:endParaRPr lang="en-US" sz="1050" dirty="0"/>
          </a:p>
        </p:txBody>
      </p:sp>
      <p:pic>
        <p:nvPicPr>
          <p:cNvPr id="5" name="Image 0" descr="D:\zhongruan\zhongruan\picture\教师端领航总览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63040"/>
            <a:ext cx="6565392" cy="36941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463040"/>
            <a:ext cx="6565392" cy="3694176"/>
          </a:xfrm>
          <a:prstGeom prst="roundRect">
            <a:avLst>
              <a:gd name="adj" fmla="val 1980"/>
            </a:avLst>
          </a:prstGeom>
          <a:solidFill>
            <a:srgbClr val="FFFFFF">
              <a:alpha val="0"/>
            </a:srgbClr>
          </a:solidFill>
          <a:ln w="10160">
            <a:solidFill>
              <a:srgbClr val="C9D9DE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88352" y="1481328"/>
            <a:ext cx="418795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8890">
            <a:solidFill>
              <a:srgbClr val="C9D9DE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88352" y="1481328"/>
            <a:ext cx="82296" cy="1024128"/>
          </a:xfrm>
          <a:prstGeom prst="rect">
            <a:avLst/>
          </a:prstGeom>
          <a:solidFill>
            <a:srgbClr val="0B6470"/>
          </a:solidFill>
          <a:ln w="12700">
            <a:solidFill>
              <a:srgbClr val="0B647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26096" y="16002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学生端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626096" y="1956816"/>
            <a:ext cx="35935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探索舱、今日委托、星轨、试炼关卡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388352" y="2724912"/>
            <a:ext cx="4187952" cy="1024128"/>
          </a:xfrm>
          <a:prstGeom prst="roundRect">
            <a:avLst>
              <a:gd name="adj" fmla="val 7143"/>
            </a:avLst>
          </a:prstGeom>
          <a:solidFill>
            <a:srgbClr val="FFF2E8"/>
          </a:solidFill>
          <a:ln w="8890">
            <a:solidFill>
              <a:srgbClr val="C9D9DE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88352" y="2724912"/>
            <a:ext cx="82296" cy="1024128"/>
          </a:xfrm>
          <a:prstGeom prst="rect">
            <a:avLst/>
          </a:prstGeom>
          <a:solidFill>
            <a:srgbClr val="E9792B"/>
          </a:solidFill>
          <a:ln w="12700">
            <a:solidFill>
              <a:srgbClr val="E9792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626096" y="284378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97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教师端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626096" y="3200400"/>
            <a:ext cx="35935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班级总览、学情观测、任务发布、干预追踪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388352" y="3968496"/>
            <a:ext cx="418795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8890">
            <a:solidFill>
              <a:srgbClr val="C9D9DE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388352" y="3968496"/>
            <a:ext cx="82296" cy="1024128"/>
          </a:xfrm>
          <a:prstGeom prst="rect">
            <a:avLst/>
          </a:prstGeom>
          <a:solidFill>
            <a:srgbClr val="102B38"/>
          </a:solidFill>
          <a:ln w="12700">
            <a:solidFill>
              <a:srgbClr val="102B3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626096" y="40873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管理端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626096" y="4443984"/>
            <a:ext cx="35935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知识图谱、智能体编排、权限与运行监控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388352" y="5212080"/>
            <a:ext cx="4187952" cy="658368"/>
          </a:xfrm>
          <a:prstGeom prst="roundRect">
            <a:avLst>
              <a:gd name="adj" fmla="val 11111"/>
            </a:avLst>
          </a:prstGeom>
          <a:solidFill>
            <a:srgbClr val="071824"/>
          </a:solidFill>
          <a:ln w="8890">
            <a:solidFill>
              <a:srgbClr val="071824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7635240" y="53766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共享同一套画像、知识与评价数据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1828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7A90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743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E97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TECHNOLOGY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52120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可落地的技术架构与数据飞轮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工程能力不是模型调用次数，而是把数据、知识、智能体和教学治理稳定地组织起来。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435608"/>
            <a:ext cx="5989320" cy="566928"/>
          </a:xfrm>
          <a:prstGeom prst="roundRect">
            <a:avLst>
              <a:gd name="adj" fmla="val 11290"/>
            </a:avLst>
          </a:prstGeom>
          <a:solidFill>
            <a:srgbClr val="E9792B"/>
          </a:solidFill>
          <a:ln w="12700">
            <a:solidFill>
              <a:srgbClr val="E9792B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59536" y="143560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应用层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847088" y="143560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学生端｜教师端｜管理端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7240" y="2194560"/>
            <a:ext cx="5678424" cy="566928"/>
          </a:xfrm>
          <a:prstGeom prst="roundRect">
            <a:avLst>
              <a:gd name="adj" fmla="val 11290"/>
            </a:avLst>
          </a:prstGeom>
          <a:solidFill>
            <a:srgbClr val="0B6470"/>
          </a:solidFill>
          <a:ln w="12700">
            <a:solidFill>
              <a:srgbClr val="0B6470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014984" y="219456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业务层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002536" y="2194560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学习路径｜试炼｜复习｜评价｜干预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32688" y="2953512"/>
            <a:ext cx="5367528" cy="566928"/>
          </a:xfrm>
          <a:prstGeom prst="roundRect">
            <a:avLst>
              <a:gd name="adj" fmla="val 11290"/>
            </a:avLst>
          </a:prstGeom>
          <a:solidFill>
            <a:srgbClr val="102B38"/>
          </a:solidFill>
          <a:ln w="12700">
            <a:solidFill>
              <a:srgbClr val="102B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70432" y="295351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智能层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157984" y="2953512"/>
            <a:ext cx="3675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个学习智能体 + 8 个评测智能体*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88136" y="3712464"/>
            <a:ext cx="5056632" cy="566928"/>
          </a:xfrm>
          <a:prstGeom prst="roundRect">
            <a:avLst>
              <a:gd name="adj" fmla="val 11290"/>
            </a:avLst>
          </a:prstGeom>
          <a:solidFill>
            <a:srgbClr val="277A58"/>
          </a:solidFill>
          <a:ln w="12700">
            <a:solidFill>
              <a:srgbClr val="277A5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25880" y="371246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知识层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313432" y="3712464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知识图谱｜动态画像｜资源索引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243584" y="4471416"/>
            <a:ext cx="4745736" cy="566928"/>
          </a:xfrm>
          <a:prstGeom prst="roundRect">
            <a:avLst>
              <a:gd name="adj" fmla="val 11290"/>
            </a:avLst>
          </a:prstGeom>
          <a:solidFill>
            <a:srgbClr val="8DA0A8"/>
          </a:solidFill>
          <a:ln w="12700">
            <a:solidFill>
              <a:srgbClr val="8DA0A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481328" y="447141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基础层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468880" y="4471416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Flask｜SQLAlchemy｜JWT｜MySQL / SQLite</a:t>
            </a:r>
            <a:endParaRPr lang="en-US" sz="1050" dirty="0"/>
          </a:p>
        </p:txBody>
      </p:sp>
      <p:pic>
        <p:nvPicPr>
          <p:cNvPr id="20" name="Image 0" descr="D:\zhongruan\zhongruan\picture\知识图谱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444752"/>
            <a:ext cx="4681728" cy="2633472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6903720" y="4279392"/>
            <a:ext cx="4681728" cy="1261872"/>
          </a:xfrm>
          <a:prstGeom prst="roundRect">
            <a:avLst>
              <a:gd name="adj" fmla="val 5797"/>
            </a:avLst>
          </a:prstGeom>
          <a:solidFill>
            <a:srgbClr val="071824"/>
          </a:solidFill>
          <a:ln w="8890">
            <a:solidFill>
              <a:srgbClr val="071824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7150608" y="448970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C7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数据飞轮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275320" y="4389120"/>
            <a:ext cx="2953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学习行为 → 画像更新 → 路径优化 → 教师反馈 → 规则与资源迭代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7150608" y="5020056"/>
            <a:ext cx="4069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B8D7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护城河：可解释的过程数据、课程知识结构、教师反馈沉淀与可替换模型接口。</a:t>
            </a:r>
            <a:endParaRPr lang="en-US" sz="880" dirty="0"/>
          </a:p>
        </p:txBody>
      </p:sp>
      <p:sp>
        <p:nvSpPr>
          <p:cNvPr id="25" name="Text 22"/>
          <p:cNvSpPr txBox="1"/>
          <p:nvPr/>
        </p:nvSpPr>
        <p:spPr>
          <a:xfrm>
            <a:off x="630936" y="5879592"/>
            <a:ext cx="10789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D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数量来自当前仓库工程结构核验，不等同于生产环境性能或教学效果证明。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1828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7A90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743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E97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TRACTION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52120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当前进展：从概念进入可演示系统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以代码、界面、文档和可复核功能为证据；不虚构用户、收入或合同。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6072" y="1444752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8890">
            <a:solidFill>
              <a:srgbClr val="D4E1E5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6072" y="1444752"/>
            <a:ext cx="64008" cy="1078992"/>
          </a:xfrm>
          <a:prstGeom prst="rect">
            <a:avLst/>
          </a:prstGeom>
          <a:solidFill>
            <a:srgbClr val="0B6470"/>
          </a:solidFill>
          <a:ln w="12700">
            <a:solidFill>
              <a:srgbClr val="0B64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591056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0253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知识节点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24942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本地工程核验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246120" y="1444752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8890">
            <a:solidFill>
              <a:srgbClr val="D4E1E5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444752"/>
            <a:ext cx="64008" cy="1078992"/>
          </a:xfrm>
          <a:prstGeom prst="rect">
            <a:avLst/>
          </a:prstGeom>
          <a:solidFill>
            <a:srgbClr val="E9792B"/>
          </a:solidFill>
          <a:ln w="12700">
            <a:solidFill>
              <a:srgbClr val="E979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47288" y="1591056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447288" y="200253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知识关系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447288" y="224942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本地工程核验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916168" y="1444752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8890">
            <a:solidFill>
              <a:srgbClr val="D4E1E5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16168" y="1444752"/>
            <a:ext cx="64008" cy="1078992"/>
          </a:xfrm>
          <a:prstGeom prst="rect">
            <a:avLst/>
          </a:prstGeom>
          <a:solidFill>
            <a:srgbClr val="277A58"/>
          </a:solidFill>
          <a:ln w="12700">
            <a:solidFill>
              <a:srgbClr val="277A5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17336" y="1591056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117336" y="200253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学习与评测智能体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117336" y="224942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+ 8，工程结构核验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8586216" y="1444752"/>
            <a:ext cx="299008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8890">
            <a:solidFill>
              <a:srgbClr val="D4E1E5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586216" y="1444752"/>
            <a:ext cx="64008" cy="1078992"/>
          </a:xfrm>
          <a:prstGeom prst="rect">
            <a:avLst/>
          </a:prstGeom>
          <a:solidFill>
            <a:srgbClr val="18C7B5"/>
          </a:solidFill>
          <a:ln w="12700">
            <a:solidFill>
              <a:srgbClr val="18C7B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787384" y="1591056"/>
            <a:ext cx="2670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端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787384" y="2002536"/>
            <a:ext cx="267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 / 教师 / 管理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787384" y="2249424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形成产品闭环界面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13232" y="3054096"/>
            <a:ext cx="932688" cy="292608"/>
          </a:xfrm>
          <a:prstGeom prst="roundRect">
            <a:avLst>
              <a:gd name="adj" fmla="val 43750"/>
            </a:avLst>
          </a:prstGeom>
          <a:solidFill>
            <a:srgbClr val="277A58"/>
          </a:solidFill>
          <a:ln w="12700">
            <a:solidFill>
              <a:srgbClr val="277A5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" y="3054096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764792" y="3200400"/>
            <a:ext cx="502920" cy="0"/>
          </a:xfrm>
          <a:prstGeom prst="line">
            <a:avLst/>
          </a:prstGeom>
          <a:noFill/>
          <a:ln w="19050">
            <a:solidFill>
              <a:srgbClr val="277A5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40280" y="2907792"/>
            <a:ext cx="91897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8890">
            <a:solidFill>
              <a:srgbClr val="C9D9D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487168" y="2990088"/>
            <a:ext cx="8641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核心前后端、角色权限、知识图谱、学习链路、演示素材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13232" y="3922776"/>
            <a:ext cx="932688" cy="292608"/>
          </a:xfrm>
          <a:prstGeom prst="roundRect">
            <a:avLst>
              <a:gd name="adj" fmla="val 43750"/>
            </a:avLst>
          </a:prstGeom>
          <a:solidFill>
            <a:srgbClr val="E9792B"/>
          </a:solidFill>
          <a:ln w="12700">
            <a:solidFill>
              <a:srgbClr val="E9792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13232" y="3922776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764792" y="4069080"/>
            <a:ext cx="502920" cy="0"/>
          </a:xfrm>
          <a:prstGeom prst="line">
            <a:avLst/>
          </a:prstGeom>
          <a:noFill/>
          <a:ln w="19050">
            <a:solidFill>
              <a:srgbClr val="E979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40280" y="3776472"/>
            <a:ext cx="91897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8890">
            <a:solidFill>
              <a:srgbClr val="C9D9D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487168" y="3858768"/>
            <a:ext cx="8641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真实课程试点、效果指标定义、部署与运维标准化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13232" y="4791456"/>
            <a:ext cx="932688" cy="292608"/>
          </a:xfrm>
          <a:prstGeom prst="roundRect">
            <a:avLst>
              <a:gd name="adj" fmla="val 43750"/>
            </a:avLst>
          </a:prstGeom>
          <a:solidFill>
            <a:srgbClr val="B34232"/>
          </a:solidFill>
          <a:ln w="12700">
            <a:solidFill>
              <a:srgbClr val="B3423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13232" y="4791456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待验证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764792" y="4937760"/>
            <a:ext cx="502920" cy="0"/>
          </a:xfrm>
          <a:prstGeom prst="line">
            <a:avLst/>
          </a:prstGeom>
          <a:noFill/>
          <a:ln w="19050">
            <a:solidFill>
              <a:srgbClr val="B3423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40280" y="4645152"/>
            <a:ext cx="9189720" cy="603504"/>
          </a:xfrm>
          <a:prstGeom prst="roundRect">
            <a:avLst>
              <a:gd name="adj" fmla="val 12121"/>
            </a:avLst>
          </a:prstGeom>
          <a:solidFill>
            <a:srgbClr val="FFF6F3"/>
          </a:solidFill>
          <a:ln w="8890">
            <a:solidFill>
              <a:srgbClr val="C9D9D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487168" y="4727448"/>
            <a:ext cx="8641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付费意愿、规模化获客、模型成本、硬件样机与量产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621792" y="574243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下一关键里程碑：完成 1–2 门真实课程试点，沉淀前测/后测、完成率、教师节时与留存数据。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1828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7A90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743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E97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MARKET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52120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聚焦高校编程教育，先窄后宽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市场测算采用院校付费的自下而上模型，避免用宏观教育支出替代可服务市场。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03504" y="1490472"/>
            <a:ext cx="4251960" cy="4251960"/>
          </a:xfrm>
          <a:prstGeom prst="ellipse">
            <a:avLst/>
          </a:prstGeom>
          <a:solidFill>
            <a:srgbClr val="DCEFF2">
              <a:alpha val="9300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810512"/>
            <a:ext cx="4032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103120"/>
            <a:ext cx="4032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5.84 亿元/年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523744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2,919 所 × 20 万元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1883664" y="2167128"/>
            <a:ext cx="2971800" cy="2971800"/>
          </a:xfrm>
          <a:prstGeom prst="ellipse">
            <a:avLst/>
          </a:prstGeom>
          <a:solidFill>
            <a:srgbClr val="8FD9D2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93392" y="2423160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993392" y="2715768"/>
            <a:ext cx="2752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2.04 亿元/年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993392" y="3136392"/>
            <a:ext cx="2752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35% 可触达院校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2761488" y="2843784"/>
            <a:ext cx="2093976" cy="2093976"/>
          </a:xfrm>
          <a:prstGeom prst="ellipse">
            <a:avLst/>
          </a:prstGeom>
          <a:solidFill>
            <a:srgbClr val="E9792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71216" y="31089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SOM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2871216" y="34015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1,080 万元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871216" y="38221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年 60 所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5504688" y="1508760"/>
            <a:ext cx="6053328" cy="4279392"/>
          </a:xfrm>
          <a:prstGeom prst="roundRect">
            <a:avLst>
              <a:gd name="adj" fmla="val 1709"/>
            </a:avLst>
          </a:prstGeom>
          <a:solidFill>
            <a:srgbClr val="FFFFFF"/>
          </a:solidFill>
          <a:ln w="8890">
            <a:solidFill>
              <a:srgbClr val="C9D9DE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806440" y="17739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为什么现在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833872" y="2304288"/>
            <a:ext cx="5321808" cy="2139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政策：教育数字化从平台建设转向智能化应用与数据治理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供给：大模型降低内容生产成本，但教学可信与流程整合仍是缺口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需求：高校需要提升大班教学效率、课程改革证据与个性支持能力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切入：编程课程高频、可测量、反馈链清晰，适合形成首个标杆场景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833872" y="46451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97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测算口径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812280" y="4544568"/>
            <a:ext cx="4315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TAM / SAM / SOM 均为内部经营模型，不代表已签约收入或第三方市场报告结论。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12648" y="595274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D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院校基数来源：教育部《2025年全国教育事业发展统计公报》（本科、职业本科、高职合计 2,919 所）。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1828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7A90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743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E97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COMPETITION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52120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我们不替代所有平台，专注“智能学习闭环”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PLEX 的竞争策略是与教务/LMS 共存，以画像、路径与干预能力形成差异化。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2633472" cy="530352"/>
          </a:xfrm>
          <a:prstGeom prst="rect">
            <a:avLst/>
          </a:prstGeom>
          <a:solidFill>
            <a:srgbClr val="071824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17320"/>
            <a:ext cx="2633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 / 产品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27832" y="1417320"/>
            <a:ext cx="1481328" cy="530352"/>
          </a:xfrm>
          <a:prstGeom prst="rect">
            <a:avLst/>
          </a:prstGeom>
          <a:solidFill>
            <a:srgbClr val="071824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27832" y="1417320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课程管理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1481328" cy="530352"/>
          </a:xfrm>
          <a:prstGeom prst="rect">
            <a:avLst/>
          </a:prstGeom>
          <a:solidFill>
            <a:srgbClr val="071824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09160" y="1417320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编程实训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90488" y="1417320"/>
            <a:ext cx="1481328" cy="530352"/>
          </a:xfrm>
          <a:prstGeom prst="rect">
            <a:avLst/>
          </a:prstGeom>
          <a:solidFill>
            <a:srgbClr val="071824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90488" y="1417320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动态画像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671816" y="1417320"/>
            <a:ext cx="1874520" cy="530352"/>
          </a:xfrm>
          <a:prstGeom prst="rect">
            <a:avLst/>
          </a:prstGeom>
          <a:solidFill>
            <a:srgbClr val="071824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71816" y="1417320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教师干预闭环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546336" y="1417320"/>
            <a:ext cx="2048256" cy="530352"/>
          </a:xfrm>
          <a:prstGeom prst="rect">
            <a:avLst/>
          </a:prstGeom>
          <a:solidFill>
            <a:srgbClr val="071824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546336" y="1417320"/>
            <a:ext cx="2048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可私有化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1947672"/>
            <a:ext cx="2633472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1947672"/>
            <a:ext cx="26334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雨课堂 / 超星 / 智慧树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3227832" y="1947672"/>
            <a:ext cx="1481328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27832" y="1947672"/>
            <a:ext cx="14813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4709160" y="1947672"/>
            <a:ext cx="1481328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09160" y="1947672"/>
            <a:ext cx="14813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弱—中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6190488" y="1947672"/>
            <a:ext cx="1481328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90488" y="1947672"/>
            <a:ext cx="14813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7671816" y="1947672"/>
            <a:ext cx="187452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71816" y="1947672"/>
            <a:ext cx="1874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9546336" y="1947672"/>
            <a:ext cx="2048256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546336" y="1947672"/>
            <a:ext cx="20482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594360" y="2560320"/>
            <a:ext cx="2633472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94360" y="2560320"/>
            <a:ext cx="26334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EduCoder 等实训平台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3227832" y="2560320"/>
            <a:ext cx="1481328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227832" y="2560320"/>
            <a:ext cx="14813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4709160" y="2560320"/>
            <a:ext cx="1481328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709160" y="2560320"/>
            <a:ext cx="14813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6190488" y="2560320"/>
            <a:ext cx="1481328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190488" y="2560320"/>
            <a:ext cx="14813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7671816" y="2560320"/>
            <a:ext cx="187452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71816" y="2560320"/>
            <a:ext cx="1874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9546336" y="2560320"/>
            <a:ext cx="2048256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546336" y="2560320"/>
            <a:ext cx="20482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594360" y="3172968"/>
            <a:ext cx="2633472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94360" y="3172968"/>
            <a:ext cx="26334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通用大模型</a:t>
            </a:r>
            <a:endParaRPr lang="en-US" sz="1020" dirty="0"/>
          </a:p>
        </p:txBody>
      </p:sp>
      <p:sp>
        <p:nvSpPr>
          <p:cNvPr id="43" name="Shape 41"/>
          <p:cNvSpPr/>
          <p:nvPr/>
        </p:nvSpPr>
        <p:spPr>
          <a:xfrm>
            <a:off x="3227832" y="3172968"/>
            <a:ext cx="1481328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227832" y="3172968"/>
            <a:ext cx="14813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</a:t>
            </a:r>
            <a:endParaRPr lang="en-US" sz="1020" dirty="0"/>
          </a:p>
        </p:txBody>
      </p:sp>
      <p:sp>
        <p:nvSpPr>
          <p:cNvPr id="45" name="Shape 43"/>
          <p:cNvSpPr/>
          <p:nvPr/>
        </p:nvSpPr>
        <p:spPr>
          <a:xfrm>
            <a:off x="4709160" y="3172968"/>
            <a:ext cx="1481328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709160" y="3172968"/>
            <a:ext cx="14813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020" dirty="0"/>
          </a:p>
        </p:txBody>
      </p:sp>
      <p:sp>
        <p:nvSpPr>
          <p:cNvPr id="47" name="Shape 45"/>
          <p:cNvSpPr/>
          <p:nvPr/>
        </p:nvSpPr>
        <p:spPr>
          <a:xfrm>
            <a:off x="6190488" y="3172968"/>
            <a:ext cx="1481328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190488" y="3172968"/>
            <a:ext cx="14813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</a:t>
            </a:r>
            <a:endParaRPr lang="en-US" sz="1020" dirty="0"/>
          </a:p>
        </p:txBody>
      </p:sp>
      <p:sp>
        <p:nvSpPr>
          <p:cNvPr id="49" name="Shape 47"/>
          <p:cNvSpPr/>
          <p:nvPr/>
        </p:nvSpPr>
        <p:spPr>
          <a:xfrm>
            <a:off x="7671816" y="3172968"/>
            <a:ext cx="187452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671816" y="3172968"/>
            <a:ext cx="1874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</a:t>
            </a:r>
            <a:endParaRPr lang="en-US" sz="1020" dirty="0"/>
          </a:p>
        </p:txBody>
      </p:sp>
      <p:sp>
        <p:nvSpPr>
          <p:cNvPr id="51" name="Shape 49"/>
          <p:cNvSpPr/>
          <p:nvPr/>
        </p:nvSpPr>
        <p:spPr>
          <a:xfrm>
            <a:off x="9546336" y="3172968"/>
            <a:ext cx="2048256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546336" y="3172968"/>
            <a:ext cx="20482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</a:t>
            </a:r>
            <a:endParaRPr lang="en-US" sz="1020" dirty="0"/>
          </a:p>
        </p:txBody>
      </p:sp>
      <p:sp>
        <p:nvSpPr>
          <p:cNvPr id="53" name="Shape 51"/>
          <p:cNvSpPr/>
          <p:nvPr/>
        </p:nvSpPr>
        <p:spPr>
          <a:xfrm>
            <a:off x="594360" y="3785616"/>
            <a:ext cx="2633472" cy="612648"/>
          </a:xfrm>
          <a:prstGeom prst="rect">
            <a:avLst/>
          </a:prstGeom>
          <a:solidFill>
            <a:srgbClr val="FFF2E8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94360" y="3785616"/>
            <a:ext cx="26334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97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PLEX</a:t>
            </a:r>
            <a:endParaRPr lang="en-US" sz="1020" dirty="0"/>
          </a:p>
        </p:txBody>
      </p:sp>
      <p:sp>
        <p:nvSpPr>
          <p:cNvPr id="55" name="Shape 53"/>
          <p:cNvSpPr/>
          <p:nvPr/>
        </p:nvSpPr>
        <p:spPr>
          <a:xfrm>
            <a:off x="3227832" y="3785616"/>
            <a:ext cx="1481328" cy="612648"/>
          </a:xfrm>
          <a:prstGeom prst="rect">
            <a:avLst/>
          </a:prstGeom>
          <a:solidFill>
            <a:srgbClr val="FFF2E8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227832" y="3785616"/>
            <a:ext cx="14813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020" dirty="0"/>
          </a:p>
        </p:txBody>
      </p:sp>
      <p:sp>
        <p:nvSpPr>
          <p:cNvPr id="57" name="Shape 55"/>
          <p:cNvSpPr/>
          <p:nvPr/>
        </p:nvSpPr>
        <p:spPr>
          <a:xfrm>
            <a:off x="4709160" y="3785616"/>
            <a:ext cx="1481328" cy="612648"/>
          </a:xfrm>
          <a:prstGeom prst="rect">
            <a:avLst/>
          </a:prstGeom>
          <a:solidFill>
            <a:srgbClr val="FFF2E8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709160" y="3785616"/>
            <a:ext cx="14813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</a:t>
            </a:r>
            <a:endParaRPr lang="en-US" sz="1020" dirty="0"/>
          </a:p>
        </p:txBody>
      </p:sp>
      <p:sp>
        <p:nvSpPr>
          <p:cNvPr id="59" name="Shape 57"/>
          <p:cNvSpPr/>
          <p:nvPr/>
        </p:nvSpPr>
        <p:spPr>
          <a:xfrm>
            <a:off x="6190488" y="3785616"/>
            <a:ext cx="1481328" cy="612648"/>
          </a:xfrm>
          <a:prstGeom prst="rect">
            <a:avLst/>
          </a:prstGeom>
          <a:solidFill>
            <a:srgbClr val="FFF2E8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190488" y="3785616"/>
            <a:ext cx="14813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</a:t>
            </a:r>
            <a:endParaRPr lang="en-US" sz="1020" dirty="0"/>
          </a:p>
        </p:txBody>
      </p:sp>
      <p:sp>
        <p:nvSpPr>
          <p:cNvPr id="61" name="Shape 59"/>
          <p:cNvSpPr/>
          <p:nvPr/>
        </p:nvSpPr>
        <p:spPr>
          <a:xfrm>
            <a:off x="7671816" y="3785616"/>
            <a:ext cx="1874520" cy="612648"/>
          </a:xfrm>
          <a:prstGeom prst="rect">
            <a:avLst/>
          </a:prstGeom>
          <a:solidFill>
            <a:srgbClr val="FFF2E8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671816" y="3785616"/>
            <a:ext cx="1874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</a:t>
            </a:r>
            <a:endParaRPr lang="en-US" sz="1020" dirty="0"/>
          </a:p>
        </p:txBody>
      </p:sp>
      <p:sp>
        <p:nvSpPr>
          <p:cNvPr id="63" name="Shape 61"/>
          <p:cNvSpPr/>
          <p:nvPr/>
        </p:nvSpPr>
        <p:spPr>
          <a:xfrm>
            <a:off x="9546336" y="3785616"/>
            <a:ext cx="2048256" cy="612648"/>
          </a:xfrm>
          <a:prstGeom prst="rect">
            <a:avLst/>
          </a:prstGeom>
          <a:solidFill>
            <a:srgbClr val="FFF2E8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9546336" y="3785616"/>
            <a:ext cx="20482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</a:t>
            </a:r>
            <a:endParaRPr lang="en-US" sz="1020" dirty="0"/>
          </a:p>
        </p:txBody>
      </p:sp>
      <p:sp>
        <p:nvSpPr>
          <p:cNvPr id="65" name="Shape 63"/>
          <p:cNvSpPr/>
          <p:nvPr/>
        </p:nvSpPr>
        <p:spPr>
          <a:xfrm>
            <a:off x="594360" y="4709160"/>
            <a:ext cx="11000232" cy="868680"/>
          </a:xfrm>
          <a:prstGeom prst="roundRect">
            <a:avLst>
              <a:gd name="adj" fmla="val 8421"/>
            </a:avLst>
          </a:prstGeom>
          <a:solidFill>
            <a:srgbClr val="FFF2E8"/>
          </a:solidFill>
          <a:ln w="8890">
            <a:solidFill>
              <a:srgbClr val="F2C5A2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66" name="Text 64"/>
          <p:cNvSpPr txBox="1"/>
          <p:nvPr/>
        </p:nvSpPr>
        <p:spPr>
          <a:xfrm>
            <a:off x="841248" y="494690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97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定位原则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1901952" y="4873752"/>
            <a:ext cx="9098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先做“编程课程智能化增量层”，通过标准接口接入既有教学体系；用学习效果与教师节时建立采购理由。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612648" y="590702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D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注：竞品比较基于公开产品定位与功能描述，具体能力随版本和采购方案变化。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1828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7A90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743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E97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BUSINESS MODEL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52120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以院校订阅为主，服务与硬件为辅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先用软件建立持续收入和数据闭环，再按真实需求扩展部署、共建与边缘终端。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481328"/>
            <a:ext cx="248716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8890">
            <a:solidFill>
              <a:srgbClr val="C9D9DE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746504"/>
            <a:ext cx="1325880" cy="292608"/>
          </a:xfrm>
          <a:prstGeom prst="roundRect">
            <a:avLst>
              <a:gd name="adj" fmla="val 43750"/>
            </a:avLst>
          </a:prstGeom>
          <a:solidFill>
            <a:srgbClr val="0B6470"/>
          </a:solidFill>
          <a:ln w="12700">
            <a:solidFill>
              <a:srgbClr val="0B64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74650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入门 SaaS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331720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8–12 万元 / 年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86968" y="301752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单院系、基础画像与学习任务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83280" y="1481328"/>
            <a:ext cx="2487168" cy="2331720"/>
          </a:xfrm>
          <a:prstGeom prst="roundRect">
            <a:avLst>
              <a:gd name="adj" fmla="val 3137"/>
            </a:avLst>
          </a:prstGeom>
          <a:solidFill>
            <a:srgbClr val="FFF2E8"/>
          </a:solidFill>
          <a:ln w="8890">
            <a:solidFill>
              <a:srgbClr val="F2B783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0" y="1746504"/>
            <a:ext cx="1325880" cy="292608"/>
          </a:xfrm>
          <a:prstGeom prst="roundRect">
            <a:avLst>
              <a:gd name="adj" fmla="val 43750"/>
            </a:avLst>
          </a:prstGeom>
          <a:solidFill>
            <a:srgbClr val="E9792B"/>
          </a:solidFill>
          <a:ln w="12700">
            <a:solidFill>
              <a:srgbClr val="E979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7600" y="174650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 SaaS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3602736" y="2331720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15–25 万元 / 年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675888" y="301752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多课程、教师闭环与数据看板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72200" y="1481328"/>
            <a:ext cx="248716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8890">
            <a:solidFill>
              <a:srgbClr val="C9D9DE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46520" y="1746504"/>
            <a:ext cx="1325880" cy="292608"/>
          </a:xfrm>
          <a:prstGeom prst="roundRect">
            <a:avLst>
              <a:gd name="adj" fmla="val 43750"/>
            </a:avLst>
          </a:prstGeom>
          <a:solidFill>
            <a:srgbClr val="102B38"/>
          </a:solidFill>
          <a:ln w="12700">
            <a:solidFill>
              <a:srgbClr val="102B3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174650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校级 / 私有化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6391656" y="2331720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35–80 万元 / 首年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464808" y="301752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校级部署、接口、权限与运维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961120" y="1481328"/>
            <a:ext cx="248716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8890">
            <a:solidFill>
              <a:srgbClr val="C9D9DE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35440" y="1746504"/>
            <a:ext cx="1325880" cy="292608"/>
          </a:xfrm>
          <a:prstGeom prst="roundRect">
            <a:avLst>
              <a:gd name="adj" fmla="val 43750"/>
            </a:avLst>
          </a:prstGeom>
          <a:solidFill>
            <a:srgbClr val="277A58"/>
          </a:solidFill>
          <a:ln w="12700">
            <a:solidFill>
              <a:srgbClr val="277A5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35440" y="174650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课程共建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9180576" y="2331720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5–20 万元 / 项目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9253728" y="301752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知识图谱、题库和课程设计服务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4360" y="4160520"/>
            <a:ext cx="10991088" cy="1115568"/>
          </a:xfrm>
          <a:prstGeom prst="roundRect">
            <a:avLst>
              <a:gd name="adj" fmla="val 6557"/>
            </a:avLst>
          </a:prstGeom>
          <a:solidFill>
            <a:srgbClr val="071824"/>
          </a:solidFill>
          <a:ln w="8890">
            <a:solidFill>
              <a:srgbClr val="071824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50392" y="439826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C7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收入结构目标（第 3 年）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090672" y="42976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8D7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SaaS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3090672" y="4553712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8C7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75%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5577840" y="42976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8D7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 / 共建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577840" y="4553712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97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12.5%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8065008" y="42976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8D7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065008" y="4553712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FA9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12.5%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594360" y="562356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342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 PLEX Edge 建议售价 999–1,299 元 / 台，仅在样机、成本与需求验证后进入正式销售。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1828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7A90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743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E97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GO-TO-MARKET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52120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用课程试点拿下标杆，再复制到院系与学校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高校采购周期长，第一年重点是验证效果、建立案例和打磨交付标准。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078992" y="2807208"/>
            <a:ext cx="9921240" cy="0"/>
          </a:xfrm>
          <a:prstGeom prst="line">
            <a:avLst/>
          </a:prstGeom>
          <a:noFill/>
          <a:ln w="50800">
            <a:solidFill>
              <a:srgbClr val="C9D9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5087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0–3 月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" y="1847088"/>
            <a:ext cx="2468880" cy="2139696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8890">
            <a:solidFill>
              <a:srgbClr val="C9D9DE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63624" y="2542032"/>
            <a:ext cx="585216" cy="585216"/>
          </a:xfrm>
          <a:prstGeom prst="ellipse">
            <a:avLst/>
          </a:prstGeom>
          <a:solidFill>
            <a:srgbClr val="0B647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63624" y="25420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31821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需求验证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77824" y="3547872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 20+ 教师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 2 门试点课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392424" y="15087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7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4–6 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92424" y="1847088"/>
            <a:ext cx="2468880" cy="2139696"/>
          </a:xfrm>
          <a:prstGeom prst="roundRect">
            <a:avLst>
              <a:gd name="adj" fmla="val 3419"/>
            </a:avLst>
          </a:prstGeom>
          <a:solidFill>
            <a:srgbClr val="FFF2E8"/>
          </a:solidFill>
          <a:ln w="8890">
            <a:solidFill>
              <a:srgbClr val="C9D9DE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34256" y="2542032"/>
            <a:ext cx="585216" cy="585216"/>
          </a:xfrm>
          <a:prstGeom prst="ellipse">
            <a:avLst/>
          </a:prstGeom>
          <a:solidFill>
            <a:srgbClr val="E9792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34256" y="25420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621024" y="31821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试点运行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648456" y="3547872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完成前后测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沉淀教师节时数据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163056" y="15087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7A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7–9 月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63056" y="1847088"/>
            <a:ext cx="2468880" cy="2139696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8890">
            <a:solidFill>
              <a:srgbClr val="C9D9DE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04888" y="2542032"/>
            <a:ext cx="585216" cy="585216"/>
          </a:xfrm>
          <a:prstGeom prst="ellipse">
            <a:avLst/>
          </a:prstGeom>
          <a:solidFill>
            <a:srgbClr val="277A5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04888" y="25420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391656" y="31821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付费转化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19088" y="3547872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形成标准方案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获得首批付费客户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933688" y="15087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10–12 月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933688" y="1847088"/>
            <a:ext cx="2468880" cy="2139696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8890">
            <a:solidFill>
              <a:srgbClr val="C9D9DE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875520" y="2542032"/>
            <a:ext cx="585216" cy="585216"/>
          </a:xfrm>
          <a:prstGeom prst="ellipse">
            <a:avLst/>
          </a:prstGeom>
          <a:solidFill>
            <a:srgbClr val="102B3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875520" y="25420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162288" y="31821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案例复制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189720" y="3547872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院系扩科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伙伴渠道与区域复制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67512" y="45994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试点课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67512" y="491947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门</a:t>
            </a:r>
            <a:endParaRPr lang="en-US" sz="2100" dirty="0"/>
          </a:p>
        </p:txBody>
      </p:sp>
      <p:sp>
        <p:nvSpPr>
          <p:cNvPr id="32" name="Text 30"/>
          <p:cNvSpPr txBox="1"/>
          <p:nvPr/>
        </p:nvSpPr>
        <p:spPr>
          <a:xfrm>
            <a:off x="3429000" y="45994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付费院校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3429000" y="491947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97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所</a:t>
            </a:r>
            <a:endParaRPr lang="en-US" sz="2100" dirty="0"/>
          </a:p>
        </p:txBody>
      </p:sp>
      <p:sp>
        <p:nvSpPr>
          <p:cNvPr id="34" name="Text 32"/>
          <p:cNvSpPr txBox="1"/>
          <p:nvPr/>
        </p:nvSpPr>
        <p:spPr>
          <a:xfrm>
            <a:off x="6190488" y="45994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年度合同额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6190488" y="491947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72 万</a:t>
            </a:r>
            <a:endParaRPr lang="en-US" sz="2100" dirty="0"/>
          </a:p>
        </p:txBody>
      </p:sp>
      <p:sp>
        <p:nvSpPr>
          <p:cNvPr id="36" name="Text 34"/>
          <p:cNvSpPr txBox="1"/>
          <p:nvPr/>
        </p:nvSpPr>
        <p:spPr>
          <a:xfrm>
            <a:off x="8951976" y="45994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可复用案例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8951976" y="491947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3 个</a:t>
            </a:r>
            <a:endParaRPr lang="en-US" sz="2100" dirty="0"/>
          </a:p>
        </p:txBody>
      </p:sp>
      <p:sp>
        <p:nvSpPr>
          <p:cNvPr id="38" name="Text 36"/>
          <p:cNvSpPr txBox="1"/>
          <p:nvPr/>
        </p:nvSpPr>
        <p:spPr>
          <a:xfrm>
            <a:off x="594360" y="579729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B342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首年目标是经营假设，不是现有业绩；每个阶段均设置“继续 / 调整 / 停止”门槛。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1828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7A90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743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E97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DELIVERY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52120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标准化交付，降低高校采用门槛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把项目制经验沉淀为可复制的实施包、培训包和成效报告。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1554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C9D9DE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67512" y="213055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468880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需求诊断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9224" y="285292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课程、师生、数据边界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2121408" y="2468880"/>
            <a:ext cx="210312" cy="310896"/>
          </a:xfrm>
          <a:prstGeom prst="chevron">
            <a:avLst/>
          </a:prstGeom>
          <a:solidFill>
            <a:srgbClr val="C9D9DE"/>
          </a:solidFill>
          <a:ln w="12700">
            <a:solidFill>
              <a:srgbClr val="C9D9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04872" y="1965960"/>
            <a:ext cx="1554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C9D9DE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569464" y="213055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2468880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轻量接入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551176" y="285292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 / 课程 / 知识点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4023360" y="2468880"/>
            <a:ext cx="210312" cy="310896"/>
          </a:xfrm>
          <a:prstGeom prst="chevron">
            <a:avLst/>
          </a:prstGeom>
          <a:solidFill>
            <a:srgbClr val="C9D9DE"/>
          </a:solidFill>
          <a:ln w="12700">
            <a:solidFill>
              <a:srgbClr val="C9D9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6824" y="1965960"/>
            <a:ext cx="1554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C9D9DE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471416" y="213055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462272" y="2468880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教师共创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453128" y="285292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规则、资源、评价口径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5925312" y="2468880"/>
            <a:ext cx="210312" cy="310896"/>
          </a:xfrm>
          <a:prstGeom prst="chevron">
            <a:avLst/>
          </a:prstGeom>
          <a:solidFill>
            <a:srgbClr val="C9D9DE"/>
          </a:solidFill>
          <a:ln w="12700">
            <a:solidFill>
              <a:srgbClr val="C9D9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08776" y="1965960"/>
            <a:ext cx="1554480" cy="1325880"/>
          </a:xfrm>
          <a:prstGeom prst="roundRect">
            <a:avLst>
              <a:gd name="adj" fmla="val 5517"/>
            </a:avLst>
          </a:prstGeom>
          <a:solidFill>
            <a:srgbClr val="FFF2E8"/>
          </a:solidFill>
          <a:ln w="8890">
            <a:solidFill>
              <a:srgbClr val="C9D9DE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373368" y="213055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97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364224" y="2468880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试点运行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285292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4–8 周小范围验证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7827264" y="2468880"/>
            <a:ext cx="210312" cy="310896"/>
          </a:xfrm>
          <a:prstGeom prst="chevron">
            <a:avLst/>
          </a:prstGeom>
          <a:solidFill>
            <a:srgbClr val="C9D9DE"/>
          </a:solidFill>
          <a:ln w="12700">
            <a:solidFill>
              <a:srgbClr val="C9D9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10728" y="1965960"/>
            <a:ext cx="1554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C9D9DE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275320" y="213055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266176" y="2468880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成效复盘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257032" y="285292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学习与效率指标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9729216" y="2468880"/>
            <a:ext cx="210312" cy="310896"/>
          </a:xfrm>
          <a:prstGeom prst="chevron">
            <a:avLst/>
          </a:prstGeom>
          <a:solidFill>
            <a:srgbClr val="C9D9DE"/>
          </a:solidFill>
          <a:ln w="12700">
            <a:solidFill>
              <a:srgbClr val="C9D9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12680" y="1965960"/>
            <a:ext cx="1554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C9D9DE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10177272" y="213055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168128" y="2468880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扩容续费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10158984" y="285292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扩课程 / 扩院系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621792" y="4005072"/>
            <a:ext cx="5358384" cy="1188720"/>
          </a:xfrm>
          <a:prstGeom prst="roundRect">
            <a:avLst>
              <a:gd name="adj" fmla="val 6154"/>
            </a:avLst>
          </a:prstGeom>
          <a:solidFill>
            <a:srgbClr val="071824"/>
          </a:solidFill>
          <a:ln w="8890">
            <a:solidFill>
              <a:srgbClr val="071824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868680" y="4215384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C7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试点成功指标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2212848" y="4123944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完成率｜知识掌握提升｜教师备课/批改节时｜学生留存｜教师推荐意愿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17920" y="4005072"/>
            <a:ext cx="5358384" cy="1188720"/>
          </a:xfrm>
          <a:prstGeom prst="roundRect">
            <a:avLst>
              <a:gd name="adj" fmla="val 6154"/>
            </a:avLst>
          </a:prstGeom>
          <a:solidFill>
            <a:srgbClr val="FFF2E8"/>
          </a:solidFill>
          <a:ln w="8890">
            <a:solidFill>
              <a:srgbClr val="F2C5A2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6473952" y="421538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97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交付护栏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7580376" y="4123944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数据最小化｜角色权限｜教师审核｜模型可替换｜日志追踪｜退出与数据返还机制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1828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7A90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743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E97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FINANCIALS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52120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三年收入模型：以 SaaS 扩张驱动规模化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单位：万元；基准情景为内部经营测算，不构成业绩承诺。</a:t>
            </a:r>
            <a:endParaRPr lang="en-US" sz="10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4360" y="1481328"/>
          <a:ext cx="6629400" cy="42245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79792" y="1490472"/>
            <a:ext cx="4105656" cy="4187952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8890">
            <a:solidFill>
              <a:srgbClr val="C9D9DE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754112" y="17556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关键假设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54112" y="2331720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付费院校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9125712" y="2331720"/>
            <a:ext cx="2121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→ 24 → 60 所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754112" y="2679192"/>
            <a:ext cx="3493008" cy="0"/>
          </a:xfrm>
          <a:prstGeom prst="line">
            <a:avLst/>
          </a:prstGeom>
          <a:noFill/>
          <a:ln w="6350">
            <a:solidFill>
              <a:srgbClr val="C9D9D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54112" y="2862072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SaaS 客单价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9125712" y="2862072"/>
            <a:ext cx="2121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→ 15 → 18 万元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754112" y="3209544"/>
            <a:ext cx="3493008" cy="0"/>
          </a:xfrm>
          <a:prstGeom prst="line">
            <a:avLst/>
          </a:prstGeom>
          <a:noFill/>
          <a:ln w="6350">
            <a:solidFill>
              <a:srgbClr val="C9D9D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54112" y="3392424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硬件销量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9125712" y="3392424"/>
            <a:ext cx="2121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 → 800 → 2,000 台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754112" y="3739896"/>
            <a:ext cx="3493008" cy="0"/>
          </a:xfrm>
          <a:prstGeom prst="line">
            <a:avLst/>
          </a:prstGeom>
          <a:noFill/>
          <a:ln w="6350">
            <a:solidFill>
              <a:srgbClr val="C9D9D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54112" y="3922776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硬件单价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9125712" y="3922776"/>
            <a:ext cx="2121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1,200 → 1,000 → 900 元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754112" y="4270248"/>
            <a:ext cx="3493008" cy="0"/>
          </a:xfrm>
          <a:prstGeom prst="line">
            <a:avLst/>
          </a:prstGeom>
          <a:noFill/>
          <a:ln w="6350">
            <a:solidFill>
              <a:srgbClr val="C9D9D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54112" y="4453128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年收入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9125712" y="4453128"/>
            <a:ext cx="2121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97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1,440 万元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754112" y="4800600"/>
            <a:ext cx="3493008" cy="0"/>
          </a:xfrm>
          <a:prstGeom prst="line">
            <a:avLst/>
          </a:prstGeom>
          <a:noFill/>
          <a:ln w="6350">
            <a:solidFill>
              <a:srgbClr val="C9D9D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44968" y="5138928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增长逻辑：先用服务保证试点成功，再提高标准产品占比与续费收入。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1828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7A90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743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E97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FINANCIALS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52120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年跨越盈亏平衡，单位经济模型可成立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现金流与毛利仍受试点转化、模型成本和交付标准化程度影响。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03504" y="1481328"/>
            <a:ext cx="2057400" cy="502920"/>
          </a:xfrm>
          <a:prstGeom prst="rect">
            <a:avLst/>
          </a:prstGeom>
          <a:solidFill>
            <a:srgbClr val="071824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3504" y="148132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项目（万元）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60904" y="1481328"/>
            <a:ext cx="1216152" cy="502920"/>
          </a:xfrm>
          <a:prstGeom prst="rect">
            <a:avLst/>
          </a:prstGeom>
          <a:solidFill>
            <a:srgbClr val="071824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60904" y="1481328"/>
            <a:ext cx="1216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年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77056" y="1481328"/>
            <a:ext cx="1216152" cy="502920"/>
          </a:xfrm>
          <a:prstGeom prst="rect">
            <a:avLst/>
          </a:prstGeom>
          <a:solidFill>
            <a:srgbClr val="071824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77056" y="1481328"/>
            <a:ext cx="1216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年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93208" y="1481328"/>
            <a:ext cx="1225296" cy="502920"/>
          </a:xfrm>
          <a:prstGeom prst="rect">
            <a:avLst/>
          </a:prstGeom>
          <a:solidFill>
            <a:srgbClr val="071824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93208" y="1481328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年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" y="1984248"/>
            <a:ext cx="2057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3504" y="198424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营业收入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60904" y="1984248"/>
            <a:ext cx="121615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660904" y="1984248"/>
            <a:ext cx="1216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77056" y="1984248"/>
            <a:ext cx="121615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77056" y="1984248"/>
            <a:ext cx="1216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93208" y="1984248"/>
            <a:ext cx="1225296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93208" y="1984248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1,440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" y="2487168"/>
            <a:ext cx="2057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3504" y="248716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总成本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60904" y="2487168"/>
            <a:ext cx="121615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60904" y="2487168"/>
            <a:ext cx="1216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877056" y="2487168"/>
            <a:ext cx="121615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877056" y="2487168"/>
            <a:ext cx="1216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558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93208" y="2487168"/>
            <a:ext cx="1225296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93208" y="2487168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1,110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3504" y="2990088"/>
            <a:ext cx="2057400" cy="548640"/>
          </a:xfrm>
          <a:prstGeom prst="rect">
            <a:avLst/>
          </a:prstGeom>
          <a:solidFill>
            <a:srgbClr val="FFF2E8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03504" y="299008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经营利润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660904" y="2990088"/>
            <a:ext cx="1216152" cy="548640"/>
          </a:xfrm>
          <a:prstGeom prst="rect">
            <a:avLst/>
          </a:prstGeom>
          <a:solidFill>
            <a:srgbClr val="FFF2E8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660904" y="2990088"/>
            <a:ext cx="1216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7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-129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877056" y="2990088"/>
            <a:ext cx="1216152" cy="548640"/>
          </a:xfrm>
          <a:prstGeom prst="rect">
            <a:avLst/>
          </a:prstGeom>
          <a:solidFill>
            <a:srgbClr val="FFF2E8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877056" y="2990088"/>
            <a:ext cx="1216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7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-22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93208" y="2990088"/>
            <a:ext cx="1225296" cy="548640"/>
          </a:xfrm>
          <a:prstGeom prst="rect">
            <a:avLst/>
          </a:prstGeom>
          <a:solidFill>
            <a:srgbClr val="FFF2E8"/>
          </a:solidFill>
          <a:ln w="6350">
            <a:solidFill>
              <a:srgbClr val="C9D9D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093208" y="2990088"/>
            <a:ext cx="1225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7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03504" y="3840480"/>
            <a:ext cx="5715000" cy="1298448"/>
          </a:xfrm>
          <a:prstGeom prst="roundRect">
            <a:avLst>
              <a:gd name="adj" fmla="val 5634"/>
            </a:avLst>
          </a:prstGeom>
          <a:solidFill>
            <a:srgbClr val="FFF2E8"/>
          </a:solidFill>
          <a:ln w="8890">
            <a:solidFill>
              <a:srgbClr val="F2C5A2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868680" y="4087368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97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盈亏平衡条件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2240280" y="3986784"/>
            <a:ext cx="3675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43–48 所标准 SaaS 客户，或以私有化项目补充收入；实际取决于续费率与交付成本。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620256" y="1481328"/>
            <a:ext cx="2249424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C9D9DE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6784848" y="160934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ACV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6784848" y="1892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万元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9125712" y="1481328"/>
            <a:ext cx="2249424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C9D9DE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9290304" y="160934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目标毛利率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9290304" y="1892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70%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6620256" y="2724912"/>
            <a:ext cx="2249424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C9D9DE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6784848" y="28529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CAC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6784848" y="3136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万元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9125712" y="2724912"/>
            <a:ext cx="2249424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C9D9DE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50" name="Text 48"/>
          <p:cNvSpPr txBox="1"/>
          <p:nvPr/>
        </p:nvSpPr>
        <p:spPr>
          <a:xfrm>
            <a:off x="9290304" y="28529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回收期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9290304" y="3136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6.9 个月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6620256" y="3968496"/>
            <a:ext cx="2249424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C9D9DE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53" name="Text 51"/>
          <p:cNvSpPr txBox="1"/>
          <p:nvPr/>
        </p:nvSpPr>
        <p:spPr>
          <a:xfrm>
            <a:off x="6784848" y="409651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年 LTV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6784848" y="43799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31.5 万元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9125712" y="3968496"/>
            <a:ext cx="2249424" cy="960120"/>
          </a:xfrm>
          <a:prstGeom prst="roundRect">
            <a:avLst>
              <a:gd name="adj" fmla="val 7619"/>
            </a:avLst>
          </a:prstGeom>
          <a:solidFill>
            <a:srgbClr val="071824"/>
          </a:solidFill>
          <a:ln w="8890">
            <a:solidFill>
              <a:srgbClr val="071824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56" name="Text 54"/>
          <p:cNvSpPr txBox="1"/>
          <p:nvPr/>
        </p:nvSpPr>
        <p:spPr>
          <a:xfrm>
            <a:off x="9290304" y="409651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B8D7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LTV / CAC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9290304" y="43799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C7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5.3×</a:t>
            </a:r>
            <a:endParaRPr lang="en-US" sz="1800" dirty="0"/>
          </a:p>
        </p:txBody>
      </p:sp>
      <p:sp>
        <p:nvSpPr>
          <p:cNvPr id="58" name="Text 56"/>
          <p:cNvSpPr txBox="1"/>
          <p:nvPr/>
        </p:nvSpPr>
        <p:spPr>
          <a:xfrm>
            <a:off x="6620256" y="532180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B342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单位经济参数为规模化目标；试点期 CAC 与交付成本通常更高，需按季度复盘。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1828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7A90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743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E97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FUNDING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52120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 万元资源，换取两项关键验证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融资或等值产业资源用于完成真实课程效果验证与可复制商业交付。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874520"/>
            <a:ext cx="2394814" cy="603504"/>
          </a:xfrm>
          <a:prstGeom prst="rect">
            <a:avLst/>
          </a:prstGeom>
          <a:solidFill>
            <a:srgbClr val="0B6470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16606" y="1874520"/>
            <a:ext cx="1330452" cy="603504"/>
          </a:xfrm>
          <a:prstGeom prst="rect">
            <a:avLst/>
          </a:prstGeom>
          <a:solidFill>
            <a:srgbClr val="E9792B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47058" y="1874520"/>
            <a:ext cx="798271" cy="603504"/>
          </a:xfrm>
          <a:prstGeom prst="rect">
            <a:avLst/>
          </a:prstGeom>
          <a:solidFill>
            <a:srgbClr val="277A5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45329" y="1874520"/>
            <a:ext cx="532181" cy="603504"/>
          </a:xfrm>
          <a:prstGeom prst="rect">
            <a:avLst/>
          </a:prstGeom>
          <a:solidFill>
            <a:srgbClr val="6FA9B4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77510" y="1874520"/>
            <a:ext cx="266090" cy="603504"/>
          </a:xfrm>
          <a:prstGeom prst="rect">
            <a:avLst/>
          </a:prstGeom>
          <a:solidFill>
            <a:srgbClr val="8DA0A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42646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 万元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58368" y="2843784"/>
            <a:ext cx="164592" cy="164592"/>
          </a:xfrm>
          <a:prstGeom prst="ellipse">
            <a:avLst/>
          </a:prstGeom>
          <a:solidFill>
            <a:srgbClr val="0B6470"/>
          </a:solidFill>
          <a:ln w="12700">
            <a:solidFill>
              <a:srgbClr val="0B647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41832" y="27889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产品与研发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423160" y="27889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45%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" y="3337560"/>
            <a:ext cx="164592" cy="164592"/>
          </a:xfrm>
          <a:prstGeom prst="ellipse">
            <a:avLst/>
          </a:prstGeom>
          <a:solidFill>
            <a:srgbClr val="E9792B"/>
          </a:solidFill>
          <a:ln w="12700">
            <a:solidFill>
              <a:srgbClr val="E979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41832" y="328269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试点交付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423160" y="328269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97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" y="3831336"/>
            <a:ext cx="164592" cy="164592"/>
          </a:xfrm>
          <a:prstGeom prst="ellipse">
            <a:avLst/>
          </a:prstGeom>
          <a:solidFill>
            <a:srgbClr val="277A58"/>
          </a:solidFill>
          <a:ln w="12700">
            <a:solidFill>
              <a:srgbClr val="277A5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1832" y="37764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市场拓展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423160" y="37764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77A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8368" y="4325112"/>
            <a:ext cx="164592" cy="164592"/>
          </a:xfrm>
          <a:prstGeom prst="ellipse">
            <a:avLst/>
          </a:prstGeom>
          <a:solidFill>
            <a:srgbClr val="6FA9B4"/>
          </a:solidFill>
          <a:ln w="12700">
            <a:solidFill>
              <a:srgbClr val="6FA9B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41832" y="42702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合规与安全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423160" y="42702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FA9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8368" y="4818888"/>
            <a:ext cx="164592" cy="164592"/>
          </a:xfrm>
          <a:prstGeom prst="ellipse">
            <a:avLst/>
          </a:prstGeom>
          <a:solidFill>
            <a:srgbClr val="8DA0A8"/>
          </a:solidFill>
          <a:ln w="12700">
            <a:solidFill>
              <a:srgbClr val="8DA0A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1832" y="476402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预备金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2423160" y="47640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8D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91072" y="1417320"/>
            <a:ext cx="5285232" cy="4160520"/>
          </a:xfrm>
          <a:prstGeom prst="roundRect">
            <a:avLst>
              <a:gd name="adj" fmla="val 1758"/>
            </a:avLst>
          </a:prstGeom>
          <a:solidFill>
            <a:srgbClr val="071824"/>
          </a:solidFill>
          <a:ln w="8890">
            <a:solidFill>
              <a:srgbClr val="071824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601968" y="17190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个月验收目标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601968" y="2359152"/>
            <a:ext cx="502920" cy="292608"/>
          </a:xfrm>
          <a:prstGeom prst="roundRect">
            <a:avLst>
              <a:gd name="adj" fmla="val 43750"/>
            </a:avLst>
          </a:prstGeom>
          <a:solidFill>
            <a:srgbClr val="E9792B"/>
          </a:solidFill>
          <a:ln w="12700">
            <a:solidFill>
              <a:srgbClr val="E9792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01968" y="235915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7287768" y="235000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完成不少于 2 门真实课程的对照式效果验证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6601968" y="3035808"/>
            <a:ext cx="502920" cy="292608"/>
          </a:xfrm>
          <a:prstGeom prst="roundRect">
            <a:avLst>
              <a:gd name="adj" fmla="val 43750"/>
            </a:avLst>
          </a:prstGeom>
          <a:solidFill>
            <a:srgbClr val="0B6470"/>
          </a:solidFill>
          <a:ln w="12700">
            <a:solidFill>
              <a:srgbClr val="0B647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601968" y="303580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7287768" y="302666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形成可复制实施包并获得 6 所付费院校</a:t>
            </a:r>
            <a:endParaRPr lang="en-US" sz="1120" dirty="0"/>
          </a:p>
        </p:txBody>
      </p:sp>
      <p:sp>
        <p:nvSpPr>
          <p:cNvPr id="34" name="Shape 32"/>
          <p:cNvSpPr/>
          <p:nvPr/>
        </p:nvSpPr>
        <p:spPr>
          <a:xfrm>
            <a:off x="6601968" y="3712464"/>
            <a:ext cx="502920" cy="292608"/>
          </a:xfrm>
          <a:prstGeom prst="roundRect">
            <a:avLst>
              <a:gd name="adj" fmla="val 43750"/>
            </a:avLst>
          </a:prstGeom>
          <a:solidFill>
            <a:srgbClr val="0B6470"/>
          </a:solidFill>
          <a:ln w="12700">
            <a:solidFill>
              <a:srgbClr val="0B647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601968" y="371246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7287768" y="37033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 SaaS 毛利、交付周期与续费意愿</a:t>
            </a:r>
            <a:endParaRPr lang="en-US" sz="1120" dirty="0"/>
          </a:p>
        </p:txBody>
      </p:sp>
      <p:sp>
        <p:nvSpPr>
          <p:cNvPr id="37" name="Shape 35"/>
          <p:cNvSpPr/>
          <p:nvPr/>
        </p:nvSpPr>
        <p:spPr>
          <a:xfrm>
            <a:off x="6601968" y="4389120"/>
            <a:ext cx="502920" cy="292608"/>
          </a:xfrm>
          <a:prstGeom prst="roundRect">
            <a:avLst>
              <a:gd name="adj" fmla="val 43750"/>
            </a:avLst>
          </a:prstGeom>
          <a:solidFill>
            <a:srgbClr val="0B6470"/>
          </a:solidFill>
          <a:ln w="12700">
            <a:solidFill>
              <a:srgbClr val="0B647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601968" y="43891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7287768" y="437997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完成数据合规基线与模型成本治理机制</a:t>
            </a:r>
            <a:endParaRPr lang="en-US" sz="1120" dirty="0"/>
          </a:p>
        </p:txBody>
      </p:sp>
      <p:sp>
        <p:nvSpPr>
          <p:cNvPr id="40" name="Text 38"/>
          <p:cNvSpPr txBox="1"/>
          <p:nvPr/>
        </p:nvSpPr>
        <p:spPr>
          <a:xfrm>
            <a:off x="6620256" y="507492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B8D7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若关键指标未达标：收缩硬件投入，优先保留软件试点与课程共建能力。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1828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7A90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743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E97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HARDWARE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52120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PLEX Edge：低打扰的学习交互终端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硬件不是主业务前提，而是为课堂签到、任务提醒、学习节奏与状态反馈提供可选入口。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03504" y="1444752"/>
            <a:ext cx="4800600" cy="4334256"/>
          </a:xfrm>
          <a:prstGeom prst="roundRect">
            <a:avLst>
              <a:gd name="adj" fmla="val 1688"/>
            </a:avLst>
          </a:prstGeom>
          <a:solidFill>
            <a:srgbClr val="071824"/>
          </a:solidFill>
          <a:ln w="8890">
            <a:solidFill>
              <a:srgbClr val="071824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5880" y="1847088"/>
            <a:ext cx="3346704" cy="2011680"/>
          </a:xfrm>
          <a:prstGeom prst="roundRect">
            <a:avLst>
              <a:gd name="adj" fmla="val 8182"/>
            </a:avLst>
          </a:prstGeom>
          <a:solidFill>
            <a:srgbClr val="173C4B"/>
          </a:solidFill>
          <a:ln w="20320">
            <a:solidFill>
              <a:srgbClr val="18C7B5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73352" y="2167128"/>
            <a:ext cx="2651760" cy="932688"/>
          </a:xfrm>
          <a:prstGeom prst="roundRect">
            <a:avLst>
              <a:gd name="adj" fmla="val 7843"/>
            </a:avLst>
          </a:prstGeom>
          <a:solidFill>
            <a:srgbClr val="D9F3EF"/>
          </a:solidFill>
          <a:ln w="12700">
            <a:solidFill>
              <a:srgbClr val="0B64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01368" y="2340864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今日任务  3 / 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572768" y="3291840"/>
            <a:ext cx="438912" cy="438912"/>
          </a:xfrm>
          <a:prstGeom prst="ellipse">
            <a:avLst/>
          </a:prstGeom>
          <a:solidFill>
            <a:srgbClr val="0B647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72768" y="3291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31720" y="3291840"/>
            <a:ext cx="438912" cy="438912"/>
          </a:xfrm>
          <a:prstGeom prst="ellipse">
            <a:avLst/>
          </a:prstGeom>
          <a:solidFill>
            <a:srgbClr val="E9792B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31720" y="3291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90672" y="3291840"/>
            <a:ext cx="438912" cy="438912"/>
          </a:xfrm>
          <a:prstGeom prst="ellipse">
            <a:avLst/>
          </a:prstGeom>
          <a:solidFill>
            <a:srgbClr val="0B647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90672" y="3291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9624" y="3291840"/>
            <a:ext cx="438912" cy="438912"/>
          </a:xfrm>
          <a:prstGeom prst="ellipse">
            <a:avLst/>
          </a:prstGeom>
          <a:solidFill>
            <a:srgbClr val="0B647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49624" y="3291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69848" y="4160520"/>
            <a:ext cx="3895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C7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ESP32-S3 · NFC · 屏幕 · 4 键 · RGB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4617720"/>
            <a:ext cx="3986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默认不配置摄像头与麦克风，降低隐私与部署复杂度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947672" y="5166360"/>
            <a:ext cx="1874520" cy="292608"/>
          </a:xfrm>
          <a:prstGeom prst="roundRect">
            <a:avLst>
              <a:gd name="adj" fmla="val 43750"/>
            </a:avLst>
          </a:prstGeom>
          <a:solidFill>
            <a:srgbClr val="E9792B"/>
          </a:solidFill>
          <a:ln w="12700">
            <a:solidFill>
              <a:srgbClr val="E979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947672" y="51663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工程候选方案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696712" y="1517904"/>
            <a:ext cx="5870448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8890">
            <a:solidFill>
              <a:srgbClr val="C9D9D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25312" y="164592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价值假设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1600200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比手机更低打扰；在教室与自习场景提供轻量反馈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96712" y="2478024"/>
            <a:ext cx="5870448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8890">
            <a:solidFill>
              <a:srgbClr val="C9D9D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25312" y="260604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目标售价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560320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999–1,299 元 / 台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96712" y="3438144"/>
            <a:ext cx="5870448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8890">
            <a:solidFill>
              <a:srgbClr val="C9D9D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25312" y="356616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量产前门槛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3520440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样机稳定性、BOM、续航、联网、需求与售后验证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96712" y="4398264"/>
            <a:ext cx="5870448" cy="749808"/>
          </a:xfrm>
          <a:prstGeom prst="roundRect">
            <a:avLst>
              <a:gd name="adj" fmla="val 9756"/>
            </a:avLst>
          </a:prstGeom>
          <a:solidFill>
            <a:srgbClr val="FFF2E8"/>
          </a:solidFill>
          <a:ln w="8890">
            <a:solidFill>
              <a:srgbClr val="C9D9D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25312" y="452628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97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止损机制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4480560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若采用率或单位经济不成立，保持软件优先，不进入量产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715000" y="5513832"/>
            <a:ext cx="5824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42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本页为方案设计，不代表已完成实物打样、检测认证或量产。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1828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7A90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743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E97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RISK &amp; ROADMAP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52120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把风险写进路线图，而不是藏在附录里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每项重大风险都有验证指标、责任动作和退出机制。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508760"/>
            <a:ext cx="1133856" cy="292608"/>
          </a:xfrm>
          <a:prstGeom prst="roundRect">
            <a:avLst>
              <a:gd name="adj" fmla="val 43750"/>
            </a:avLst>
          </a:prstGeom>
          <a:solidFill>
            <a:srgbClr val="0B6470"/>
          </a:solidFill>
          <a:ln w="12700">
            <a:solidFill>
              <a:srgbClr val="0B64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508760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采购周期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426464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用小额课程试点切入，提前建立预算与采购节奏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2048256"/>
            <a:ext cx="5175504" cy="0"/>
          </a:xfrm>
          <a:prstGeom prst="line">
            <a:avLst/>
          </a:prstGeom>
          <a:noFill/>
          <a:ln w="6350">
            <a:solidFill>
              <a:srgbClr val="C9D9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2267712"/>
            <a:ext cx="1133856" cy="292608"/>
          </a:xfrm>
          <a:prstGeom prst="roundRect">
            <a:avLst>
              <a:gd name="adj" fmla="val 43750"/>
            </a:avLst>
          </a:prstGeom>
          <a:solidFill>
            <a:srgbClr val="0B6470"/>
          </a:solidFill>
          <a:ln w="12700">
            <a:solidFill>
              <a:srgbClr val="0B64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2267712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学习效果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218541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前测/后测 + 完成率 + 教师评价，避免只看活跃度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5175504" cy="0"/>
          </a:xfrm>
          <a:prstGeom prst="line">
            <a:avLst/>
          </a:prstGeom>
          <a:noFill/>
          <a:ln w="6350">
            <a:solidFill>
              <a:srgbClr val="C9D9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" y="3026664"/>
            <a:ext cx="1133856" cy="292608"/>
          </a:xfrm>
          <a:prstGeom prst="roundRect">
            <a:avLst>
              <a:gd name="adj" fmla="val 43750"/>
            </a:avLst>
          </a:prstGeom>
          <a:solidFill>
            <a:srgbClr val="0B6470"/>
          </a:solidFill>
          <a:ln w="12700">
            <a:solidFill>
              <a:srgbClr val="0B647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3026664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可信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2944368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教师审核、引用追踪、规则校验与可替换模型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" y="3566160"/>
            <a:ext cx="5175504" cy="0"/>
          </a:xfrm>
          <a:prstGeom prst="line">
            <a:avLst/>
          </a:prstGeom>
          <a:noFill/>
          <a:ln w="6350">
            <a:solidFill>
              <a:srgbClr val="C9D9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3785616"/>
            <a:ext cx="1133856" cy="292608"/>
          </a:xfrm>
          <a:prstGeom prst="roundRect">
            <a:avLst>
              <a:gd name="adj" fmla="val 43750"/>
            </a:avLst>
          </a:prstGeom>
          <a:solidFill>
            <a:srgbClr val="0B6470"/>
          </a:solidFill>
          <a:ln w="12700">
            <a:solidFill>
              <a:srgbClr val="0B647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" y="3785616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数据合规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1920240" y="3703320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最小化收集、分级权限、日志与数据返还机制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" y="4325112"/>
            <a:ext cx="5175504" cy="0"/>
          </a:xfrm>
          <a:prstGeom prst="line">
            <a:avLst/>
          </a:prstGeom>
          <a:noFill/>
          <a:ln w="6350">
            <a:solidFill>
              <a:srgbClr val="C9D9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" y="4544568"/>
            <a:ext cx="1133856" cy="292608"/>
          </a:xfrm>
          <a:prstGeom prst="roundRect">
            <a:avLst>
              <a:gd name="adj" fmla="val 43750"/>
            </a:avLst>
          </a:prstGeom>
          <a:solidFill>
            <a:srgbClr val="E9792B"/>
          </a:solidFill>
          <a:ln w="12700">
            <a:solidFill>
              <a:srgbClr val="E979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" y="4544568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硬件风险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1920240" y="4462272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阶段门控制：样机—小批—量产，未达标即停止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" y="5084064"/>
            <a:ext cx="5175504" cy="0"/>
          </a:xfrm>
          <a:prstGeom prst="line">
            <a:avLst/>
          </a:prstGeom>
          <a:noFill/>
          <a:ln w="6350">
            <a:solidFill>
              <a:srgbClr val="C9D9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80760" y="1426464"/>
            <a:ext cx="5468112" cy="4114800"/>
          </a:xfrm>
          <a:prstGeom prst="roundRect">
            <a:avLst>
              <a:gd name="adj" fmla="val 1778"/>
            </a:avLst>
          </a:prstGeom>
          <a:solidFill>
            <a:srgbClr val="071824"/>
          </a:solidFill>
          <a:ln w="8890">
            <a:solidFill>
              <a:srgbClr val="071824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382512" y="17099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个月路线图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6382512" y="2240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8C7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M1–3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7242048" y="224028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试点准备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577072" y="224028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B8D7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指标、课程与数据边界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382512" y="29535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8C7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M4–8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7242048" y="295351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真实验证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577072" y="295351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B8D7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门课程、前后测、教师节时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6382512" y="366674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97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M9–12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7242048" y="366674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商业转化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577072" y="3666744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B8D7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标准合同、6 所付费院校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6382512" y="43799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8C7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M13–18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7242048" y="4379976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规模复制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577072" y="437997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B8D7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扩课程、渠道与交付体系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6382512" y="51297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97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决策原则：软件价值成立后再放大硬件；效果证据优先于功能数量。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1828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7A90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743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E97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52120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数据来源与测算口径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外部事实引用官方公开信息；经营数字均为内部模型，需以后续试点和合同验证。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389888"/>
            <a:ext cx="5486400" cy="4407408"/>
          </a:xfrm>
          <a:prstGeom prst="roundRect">
            <a:avLst>
              <a:gd name="adj" fmla="val 1660"/>
            </a:avLst>
          </a:prstGeom>
          <a:solidFill>
            <a:srgbClr val="FFFFFF"/>
          </a:solidFill>
          <a:ln w="8890">
            <a:solidFill>
              <a:srgbClr val="C9D9DE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6642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主要公开来源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2167128"/>
            <a:ext cx="438912" cy="292608"/>
          </a:xfrm>
          <a:prstGeom prst="roundRect">
            <a:avLst>
              <a:gd name="adj" fmla="val 43750"/>
            </a:avLst>
          </a:prstGeom>
          <a:solidFill>
            <a:srgbClr val="E9792B"/>
          </a:solidFill>
          <a:ln w="12700">
            <a:solidFill>
              <a:srgbClr val="E979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167128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139696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教育部《2025年全国教育事业发展统计公报》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423160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moe.gov.cn｜院校与在校生规模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868680" y="2807208"/>
            <a:ext cx="438912" cy="292608"/>
          </a:xfrm>
          <a:prstGeom prst="roundRect">
            <a:avLst>
              <a:gd name="adj" fmla="val 43750"/>
            </a:avLst>
          </a:prstGeom>
          <a:solidFill>
            <a:srgbClr val="0B6470"/>
          </a:solidFill>
          <a:ln w="12700">
            <a:solidFill>
              <a:srgbClr val="0B647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807208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2779776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《教育强国建设规划纲要（2024—2035年）》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063240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moe.gov.cn｜教育数字化政策方向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868680" y="3447288"/>
            <a:ext cx="438912" cy="292608"/>
          </a:xfrm>
          <a:prstGeom prst="roundRect">
            <a:avLst>
              <a:gd name="adj" fmla="val 43750"/>
            </a:avLst>
          </a:prstGeom>
          <a:solidFill>
            <a:srgbClr val="0B6470"/>
          </a:solidFill>
          <a:ln w="12700">
            <a:solidFill>
              <a:srgbClr val="0B647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3447288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419856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九部门《关于加快推进教育数字化的意见》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703320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moe.gov.cn｜智能化应用与治理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868680" y="4087368"/>
            <a:ext cx="438912" cy="292608"/>
          </a:xfrm>
          <a:prstGeom prst="roundRect">
            <a:avLst>
              <a:gd name="adj" fmla="val 43750"/>
            </a:avLst>
          </a:prstGeom>
          <a:solidFill>
            <a:srgbClr val="0B6470"/>
          </a:solidFill>
          <a:ln w="12700">
            <a:solidFill>
              <a:srgbClr val="0B647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4087368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4059936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年全国教育数字化工作会议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343400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moe.gov.cn｜智能化、集成化、国际化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868680" y="4727448"/>
            <a:ext cx="438912" cy="292608"/>
          </a:xfrm>
          <a:prstGeom prst="roundRect">
            <a:avLst>
              <a:gd name="adj" fmla="val 43750"/>
            </a:avLst>
          </a:prstGeom>
          <a:solidFill>
            <a:srgbClr val="0B6470"/>
          </a:solidFill>
          <a:ln w="12700">
            <a:solidFill>
              <a:srgbClr val="0B647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" y="4727448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463040" y="4700016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《个人信息保护法》与生成式 AI 暂行办法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463040" y="4983480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07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gov.cn / cac.gov.cn｜数据与 AI 合规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6309360" y="1389888"/>
            <a:ext cx="5266944" cy="4407408"/>
          </a:xfrm>
          <a:prstGeom prst="roundRect">
            <a:avLst>
              <a:gd name="adj" fmla="val 1660"/>
            </a:avLst>
          </a:prstGeom>
          <a:solidFill>
            <a:srgbClr val="071824"/>
          </a:solidFill>
          <a:ln w="8890">
            <a:solidFill>
              <a:srgbClr val="071824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611112" y="166420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内部测算口径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6620256" y="217627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C7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市场规模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754112" y="215798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院校数 × 年均合同额，自下而上计算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6620256" y="2615184"/>
            <a:ext cx="4535424" cy="0"/>
          </a:xfrm>
          <a:prstGeom prst="line">
            <a:avLst/>
          </a:prstGeom>
          <a:noFill/>
          <a:ln w="7620">
            <a:solidFill>
              <a:srgbClr val="31515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620256" y="281635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C7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SOM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7754112" y="279806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年 60 所付费院校 × 18 万元 SaaS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6620256" y="3255264"/>
            <a:ext cx="4535424" cy="0"/>
          </a:xfrm>
          <a:prstGeom prst="line">
            <a:avLst/>
          </a:prstGeom>
          <a:noFill/>
          <a:ln w="7620">
            <a:solidFill>
              <a:srgbClr val="31515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620256" y="345643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C7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财务预测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7754112" y="343814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基准情景；未计融资、税费与营运资金波动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6620256" y="3895344"/>
            <a:ext cx="4535424" cy="0"/>
          </a:xfrm>
          <a:prstGeom prst="line">
            <a:avLst/>
          </a:prstGeom>
          <a:noFill/>
          <a:ln w="7620">
            <a:solidFill>
              <a:srgbClr val="31515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620256" y="409651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C7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单位经济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7754112" y="407822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规模化目标值，试点期 CAC 与交付成本更高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6620256" y="4535424"/>
            <a:ext cx="4535424" cy="0"/>
          </a:xfrm>
          <a:prstGeom prst="line">
            <a:avLst/>
          </a:prstGeom>
          <a:noFill/>
          <a:ln w="7620">
            <a:solidFill>
              <a:srgbClr val="31515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620256" y="473659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97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7754112" y="471830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价格、销量与成本均须经样机和小批量验证</a:t>
            </a:r>
            <a:endParaRPr lang="en-US" sz="1020" dirty="0"/>
          </a:p>
        </p:txBody>
      </p:sp>
      <p:sp>
        <p:nvSpPr>
          <p:cNvPr id="43" name="Shape 41"/>
          <p:cNvSpPr/>
          <p:nvPr/>
        </p:nvSpPr>
        <p:spPr>
          <a:xfrm>
            <a:off x="6620256" y="5175504"/>
            <a:ext cx="4535424" cy="0"/>
          </a:xfrm>
          <a:prstGeom prst="line">
            <a:avLst/>
          </a:prstGeom>
          <a:noFill/>
          <a:ln w="7620">
            <a:solidFill>
              <a:srgbClr val="31515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21792" y="592531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8D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完整链接、计算过程与风险说明见同目录 Word / PDF 源材料；本 PPTX 为比赛上传版。</a:t>
            </a:r>
            <a:endParaRPr lang="en-US" sz="8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1828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7A90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zhongruan\zhongruan\picture\中央调控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0"/>
            <a:ext cx="56967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92240" y="0"/>
            <a:ext cx="5696712" cy="6858000"/>
          </a:xfrm>
          <a:prstGeom prst="rect">
            <a:avLst/>
          </a:prstGeom>
          <a:solidFill>
            <a:srgbClr val="071824">
              <a:alpha val="77000"/>
            </a:srgbClr>
          </a:solidFill>
          <a:ln w="12700">
            <a:solidFill>
              <a:srgbClr val="07182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7360920" cy="6858000"/>
          </a:xfrm>
          <a:prstGeom prst="rect">
            <a:avLst/>
          </a:prstGeom>
          <a:solidFill>
            <a:srgbClr val="071824"/>
          </a:solidFill>
          <a:ln w="12700">
            <a:solidFill>
              <a:srgbClr val="07182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1792" y="5120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E97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 &amp; ASK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621792" y="950976"/>
            <a:ext cx="5577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让每个学习者</a:t>
            </a:r>
            <a:endParaRPr lang="en-US" sz="2900" dirty="0"/>
          </a:p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拥有一条可解释的成长路径</a:t>
            </a:r>
            <a:endParaRPr lang="en-US" sz="29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248716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C7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邬 / wuyeni0806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3127248" y="248716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项目统筹与技术研发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303580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C7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高梦琴 / gaomengqin97-ui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3127248" y="303580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UI、前端与产品运营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358444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FC4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王（待补全姓名）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3127248" y="358444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财务与商业模型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658368" y="413308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FC4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指导教师（待补充）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3127248" y="413308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教学与项目指导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1792" y="4965192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E9792B"/>
          </a:solidFill>
          <a:ln w="8890">
            <a:solidFill>
              <a:srgbClr val="E9792B"/>
            </a:solidFill>
            <a:prstDash val="solid"/>
          </a:ln>
          <a:effectLst>
            <a:outerShdw sx="100000" sy="100000" kx="0" ky="0" algn="bl" rotWithShape="0" blurRad="19050" dist="50800" dir="2700000">
              <a:srgbClr val="67808A">
                <a:alpha val="16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77824" y="5120640"/>
            <a:ext cx="4700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寻求：200 万元融资或等值试点、产业与渠道资源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58368" y="5980176"/>
            <a:ext cx="5532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FC4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真实性声明：现有功能与工程数据可通过代码、演示和证明材料核验；市场、财务和硬件数据均为规划假设，需以后续试点、合同与样机结果验证。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7589520" y="516636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PLEX UNIVERSE</a:t>
            </a:r>
            <a:endParaRPr lang="en-US" sz="2700" dirty="0"/>
          </a:p>
        </p:txBody>
      </p:sp>
      <p:sp>
        <p:nvSpPr>
          <p:cNvPr id="19" name="Text 16"/>
          <p:cNvSpPr txBox="1"/>
          <p:nvPr/>
        </p:nvSpPr>
        <p:spPr>
          <a:xfrm>
            <a:off x="7589520" y="57607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C7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PLEX 项目组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PLEX Universe 商业计划书</dc:title>
  <dc:subject>iCAN 大学生创新创业大赛商业计划书</dc:subject>
  <dc:creator>PLEX 项目组</dc:creator>
  <cp:lastModifiedBy>PLEX 项目组</cp:lastModifiedBy>
  <cp:revision>1</cp:revision>
  <dcterms:created xsi:type="dcterms:W3CDTF">2026-08-31T14:44:34Z</dcterms:created>
  <dcterms:modified xsi:type="dcterms:W3CDTF">2026-08-31T14:44:34Z</dcterms:modified>
</cp:coreProperties>
</file>