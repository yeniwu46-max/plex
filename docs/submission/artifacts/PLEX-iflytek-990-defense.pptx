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4E6C5"/>
                </a:solidFill>
                <a:latin typeface="Microsoft YaHei"/>
              </a:rPr>
              <a:t>01 · 痛点与目标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2FAFF"/>
                </a:solidFill>
                <a:latin typeface="Microsoft YaHei"/>
              </a:rPr>
              <a:t>让每一次作答，都成为下一步学习的证据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C8B9A"/>
                </a:solidFill>
                <a:latin typeface="Microsoft YaHei"/>
              </a:rPr>
              <a:t>PLEX | Iflytek 990 | 2026-08-28 | 1/10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583680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F2FAFF"/>
                </a:solidFill>
                <a:latin typeface="Microsoft YaHei"/>
              </a:rPr>
              <a:t>大模型 + 多智能体：让个性化学习可验证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640080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75F3FF"/>
                </a:solidFill>
                <a:latin typeface="Microsoft YaHei"/>
              </a:rPr>
              <a:t>画像 → 诊断 → 图谱 → 路径 → 资源 → 复习 → 教师干预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25880"/>
            <a:ext cx="3931920" cy="4114800"/>
          </a:xfrm>
          <a:prstGeom prst="roundRect">
            <a:avLst/>
          </a:prstGeom>
          <a:solidFill>
            <a:srgbClr val="0A1F2E"/>
          </a:solidFill>
          <a:ln w="12700">
            <a:solidFill>
              <a:srgbClr val="1B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79" y="1828800"/>
            <a:ext cx="1051560" cy="1051560"/>
          </a:xfrm>
          <a:prstGeom prst="ellipse">
            <a:avLst/>
          </a:prstGeom>
          <a:solidFill>
            <a:srgbClr val="65A9FF"/>
          </a:solidFill>
          <a:ln>
            <a:solidFill>
              <a:srgbClr val="6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221992"/>
            <a:ext cx="10515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2FAFF"/>
                </a:solidFill>
                <a:latin typeface="Microsoft YaHei"/>
              </a:rPr>
              <a:t>画像</a:t>
            </a:r>
          </a:p>
        </p:txBody>
      </p:sp>
      <p:sp>
        <p:nvSpPr>
          <p:cNvPr id="10" name="Oval 9"/>
          <p:cNvSpPr/>
          <p:nvPr/>
        </p:nvSpPr>
        <p:spPr>
          <a:xfrm>
            <a:off x="9555480" y="1828800"/>
            <a:ext cx="1051560" cy="1051560"/>
          </a:xfrm>
          <a:prstGeom prst="ellipse">
            <a:avLst/>
          </a:prstGeom>
          <a:solidFill>
            <a:srgbClr val="34E6C5"/>
          </a:solidFill>
          <a:ln>
            <a:solidFill>
              <a:srgbClr val="3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55480" y="2221992"/>
            <a:ext cx="10515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2FAFF"/>
                </a:solidFill>
                <a:latin typeface="Microsoft YaHei"/>
              </a:rPr>
              <a:t>诊断</a:t>
            </a:r>
          </a:p>
        </p:txBody>
      </p:sp>
      <p:sp>
        <p:nvSpPr>
          <p:cNvPr id="12" name="Oval 11"/>
          <p:cNvSpPr/>
          <p:nvPr/>
        </p:nvSpPr>
        <p:spPr>
          <a:xfrm>
            <a:off x="10744200" y="2743200"/>
            <a:ext cx="1051560" cy="1051560"/>
          </a:xfrm>
          <a:prstGeom prst="ellipse">
            <a:avLst/>
          </a:prstGeom>
          <a:solidFill>
            <a:srgbClr val="75F3FF"/>
          </a:solidFill>
          <a:ln>
            <a:solidFill>
              <a:srgbClr val="7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3136392"/>
            <a:ext cx="10515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2FAFF"/>
                </a:solidFill>
                <a:latin typeface="Microsoft YaHei"/>
              </a:rPr>
              <a:t>路径</a:t>
            </a:r>
          </a:p>
        </p:txBody>
      </p:sp>
      <p:sp>
        <p:nvSpPr>
          <p:cNvPr id="14" name="Oval 13"/>
          <p:cNvSpPr/>
          <p:nvPr/>
        </p:nvSpPr>
        <p:spPr>
          <a:xfrm>
            <a:off x="9555480" y="3886200"/>
            <a:ext cx="1051560" cy="1051560"/>
          </a:xfrm>
          <a:prstGeom prst="ellipse">
            <a:avLst/>
          </a:prstGeom>
          <a:solidFill>
            <a:srgbClr val="FFC857"/>
          </a:solidFill>
          <a:ln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4279392"/>
            <a:ext cx="10515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2FAFF"/>
                </a:solidFill>
                <a:latin typeface="Microsoft YaHei"/>
              </a:rPr>
              <a:t>资源</a:t>
            </a:r>
          </a:p>
        </p:txBody>
      </p:sp>
      <p:sp>
        <p:nvSpPr>
          <p:cNvPr id="16" name="Oval 15"/>
          <p:cNvSpPr/>
          <p:nvPr/>
        </p:nvSpPr>
        <p:spPr>
          <a:xfrm>
            <a:off x="7955279" y="3886200"/>
            <a:ext cx="1051560" cy="1051560"/>
          </a:xfrm>
          <a:prstGeom prst="ellipse">
            <a:avLst/>
          </a:prstGeom>
          <a:solidFill>
            <a:srgbClr val="7DE2A8"/>
          </a:solidFill>
          <a:ln>
            <a:solidFill>
              <a:srgbClr val="7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279392"/>
            <a:ext cx="10515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2FAFF"/>
                </a:solidFill>
                <a:latin typeface="Microsoft YaHei"/>
              </a:rPr>
              <a:t>复习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74920"/>
            <a:ext cx="1645920" cy="310896"/>
          </a:xfrm>
          <a:prstGeom prst="roundRect">
            <a:avLst/>
          </a:prstGeom>
          <a:solidFill>
            <a:srgbClr val="103B38"/>
          </a:solidFill>
          <a:ln w="12700">
            <a:solidFill>
              <a:srgbClr val="3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20640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4E6C5"/>
                </a:solidFill>
                <a:latin typeface="Microsoft YaHei"/>
              </a:rPr>
              <a:t>本地链路已验证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5074920"/>
            <a:ext cx="1645920" cy="310896"/>
          </a:xfrm>
          <a:prstGeom prst="roundRect">
            <a:avLst/>
          </a:prstGeom>
          <a:solidFill>
            <a:srgbClr val="4B3023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20640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C857"/>
                </a:solidFill>
                <a:latin typeface="Microsoft YaHei"/>
              </a:rPr>
              <a:t>真实外部待接入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4E6C5"/>
                </a:solidFill>
                <a:latin typeface="Microsoft YaHei"/>
              </a:rPr>
              <a:t>02 · 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2FAFF"/>
                </a:solidFill>
                <a:latin typeface="Microsoft YaHei"/>
              </a:rPr>
              <a:t>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C8B9A"/>
                </a:solidFill>
                <a:latin typeface="Microsoft YaHei"/>
              </a:rPr>
              <a:t>PLEX | Iflytek 990 | 2026-08-28 | 2/10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FF7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7D8A"/>
                </a:solidFill>
                <a:latin typeface="Microsoft YaHei"/>
              </a:rPr>
              <a:t>传统课堂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统一进度
统一内容
统一评价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246120" cy="1508760"/>
          </a:xfrm>
          <a:prstGeom prst="roundRect">
            <a:avLst/>
          </a:prstGeom>
          <a:solidFill>
            <a:srgbClr val="10372F"/>
          </a:solidFill>
          <a:ln w="12700">
            <a:solidFill>
              <a:srgbClr val="3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4E6C5"/>
                </a:solidFill>
                <a:latin typeface="Microsoft YaHei"/>
              </a:rPr>
              <a:t>PLEX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行为沉淀为证据
图谱定位断点
Agent 生成与审核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6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65A9FF"/>
                </a:solidFill>
                <a:latin typeface="Microsoft YaHei"/>
              </a:rPr>
              <a:t>教师端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风险原因可解释
工单可跟踪
效果可复盘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5F3FF"/>
                </a:solidFill>
                <a:latin typeface="Microsoft YaHei"/>
              </a:rPr>
              <a:t>每个学习事件都能解释：为什么推荐、为什么预警、下一步做什么。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4E6C5"/>
                </a:solidFill>
                <a:latin typeface="Microsoft YaHei"/>
              </a:rPr>
              <a:t>03 · 个性化画像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2FAFF"/>
                </a:solidFill>
                <a:latin typeface="Microsoft YaHei"/>
              </a:rPr>
              <a:t>个性化画像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C8B9A"/>
                </a:solidFill>
                <a:latin typeface="Microsoft YaHei"/>
              </a:rPr>
              <a:t>PLEX | Iflytek 990 | 2026-08-28 | 3/10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6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65A9FF"/>
                </a:solidFill>
                <a:latin typeface="Microsoft YaHei"/>
              </a:rPr>
              <a:t>知识基础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学习目标
解释偏好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246120" cy="1508760"/>
          </a:xfrm>
          <a:prstGeom prst="roundRect">
            <a:avLst/>
          </a:prstGeom>
          <a:solidFill>
            <a:srgbClr val="10372F"/>
          </a:solidFill>
          <a:ln w="12700">
            <a:solidFill>
              <a:srgbClr val="3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4E6C5"/>
                </a:solidFill>
                <a:latin typeface="Microsoft YaHei"/>
              </a:rPr>
              <a:t>行为证据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作答 / 错题
学习时长
任务完成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C857"/>
                </a:solidFill>
                <a:latin typeface="Microsoft YaHei"/>
              </a:rPr>
              <a:t>历史版本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v1 初始
 v2 错题更新
 v3 复习校准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5F3FF"/>
                </a:solidFill>
                <a:latin typeface="Microsoft YaHei"/>
              </a:rPr>
              <a:t>每个字段保存来源、置信度、时间和版本。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4E6C5"/>
                </a:solidFill>
                <a:latin typeface="Microsoft YaHei"/>
              </a:rPr>
              <a:t>04 · 知识图谱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2FAFF"/>
                </a:solidFill>
                <a:latin typeface="Microsoft YaHei"/>
              </a:rPr>
              <a:t>知识图谱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C8B9A"/>
                </a:solidFill>
                <a:latin typeface="Microsoft YaHei"/>
              </a:rPr>
              <a:t>PLEX | Iflytek 990 | 2026-08-28 | 4/10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3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4E6C5"/>
                </a:solidFill>
                <a:latin typeface="Microsoft YaHei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知识节点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246120" cy="1508760"/>
          </a:xfrm>
          <a:prstGeom prst="roundRect">
            <a:avLst/>
          </a:prstGeom>
          <a:solidFill>
            <a:srgbClr val="10372F"/>
          </a:solidFill>
          <a:ln w="12700">
            <a:solidFill>
              <a:srgbClr val="7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75F3FF"/>
                </a:solidFill>
                <a:latin typeface="Microsoft YaHei"/>
              </a:rPr>
              <a:t>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唯一关系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6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65A9FF"/>
                </a:solidFill>
                <a:latin typeface="Microsoft YaHei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课程域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5F3FF"/>
                </a:solidFill>
                <a:latin typeface="Microsoft YaHei"/>
              </a:rPr>
              <a:t>自动校验：无孤立、无重复、无非法引用、前置无环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4E6C5"/>
                </a:solidFill>
                <a:latin typeface="Microsoft YaHei"/>
              </a:rPr>
              <a:t>05 · 多智能体协同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2FAFF"/>
                </a:solidFill>
                <a:latin typeface="Microsoft YaHei"/>
              </a:rPr>
              <a:t>多智能体协同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C8B9A"/>
                </a:solidFill>
                <a:latin typeface="Microsoft YaHei"/>
              </a:rPr>
              <a:t>PLEX | Iflytek 990 | 2026-08-28 | 5/10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6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65A9FF"/>
                </a:solidFill>
                <a:latin typeface="Microsoft YaHei"/>
              </a:rPr>
              <a:t>画像解释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识别学习者状态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246120" cy="1508760"/>
          </a:xfrm>
          <a:prstGeom prst="roundRect">
            <a:avLst/>
          </a:prstGeom>
          <a:solidFill>
            <a:srgbClr val="10372F"/>
          </a:solidFill>
          <a:ln w="12700">
            <a:solidFill>
              <a:srgbClr val="3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4E6C5"/>
                </a:solidFill>
                <a:latin typeface="Microsoft YaHei"/>
              </a:rPr>
              <a:t>知识检索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图谱 + RAG 双重约束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C857"/>
                </a:solidFill>
                <a:latin typeface="Microsoft YaHei"/>
              </a:rPr>
              <a:t>资源审核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低置信度进入教师工单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5F3FF"/>
                </a:solidFill>
                <a:latin typeface="Microsoft YaHei"/>
              </a:rPr>
              <a:t>9 个学习 Agent · 8 个评分 Agent · retry_count 持久化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4E6C5"/>
                </a:solidFill>
                <a:latin typeface="Microsoft YaHei"/>
              </a:rPr>
              <a:t>06 · 资源与幻觉控制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2FAFF"/>
                </a:solidFill>
                <a:latin typeface="Microsoft YaHei"/>
              </a:rPr>
              <a:t>多模态资源与幻觉控制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C8B9A"/>
                </a:solidFill>
                <a:latin typeface="Microsoft YaHei"/>
              </a:rPr>
              <a:t>PLEX | Iflytek 990 | 2026-08-28 | 6/10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7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75F3FF"/>
                </a:solidFill>
                <a:latin typeface="Microsoft YaHei"/>
              </a:rPr>
              <a:t>6 类资源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讲义、导图、题库、实操、拓展、语音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246120" cy="1508760"/>
          </a:xfrm>
          <a:prstGeom prst="roundRect">
            <a:avLst/>
          </a:prstGeom>
          <a:solidFill>
            <a:srgbClr val="10372F"/>
          </a:solidFill>
          <a:ln w="12700">
            <a:solidFill>
              <a:srgbClr val="3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4E6C5"/>
                </a:solidFill>
                <a:latin typeface="Microsoft YaHei"/>
              </a:rPr>
              <a:t>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本地清洁样本硬风险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C857"/>
                </a:solidFill>
                <a:latin typeface="Microsoft YaHe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伪造引用检出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5F3FF"/>
                </a:solidFill>
                <a:latin typeface="Microsoft YaHei"/>
              </a:rPr>
              <a:t>上述结果是本地规则基准，不替代真实讯飞输出。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4E6C5"/>
                </a:solidFill>
                <a:latin typeface="Microsoft YaHei"/>
              </a:rPr>
              <a:t>07 · 错题与复习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2FAFF"/>
                </a:solidFill>
                <a:latin typeface="Microsoft YaHei"/>
              </a:rPr>
              <a:t>考试—错题—复习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C8B9A"/>
                </a:solidFill>
                <a:latin typeface="Microsoft YaHei"/>
              </a:rPr>
              <a:t>PLEX | Iflytek 990 | 2026-08-28 | 7/10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6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65A9FF"/>
                </a:solidFill>
                <a:latin typeface="Microsoft YaHei"/>
              </a:rPr>
              <a:t>作答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题目 + 错因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246120" cy="1508760"/>
          </a:xfrm>
          <a:prstGeom prst="roundRect">
            <a:avLst/>
          </a:prstGeom>
          <a:solidFill>
            <a:srgbClr val="10372F"/>
          </a:solidFill>
          <a:ln w="12700">
            <a:solidFill>
              <a:srgbClr val="3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4E6C5"/>
                </a:solidFill>
                <a:latin typeface="Microsoft YaHei"/>
              </a:rPr>
              <a:t>SM-2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0—5 回忆质量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C857"/>
                </a:solidFill>
                <a:latin typeface="Microsoft YaHei"/>
              </a:rPr>
              <a:t>路径重规划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到期错题优先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5F3FF"/>
                </a:solidFill>
                <a:latin typeface="Microsoft YaHei"/>
              </a:rPr>
              <a:t>每日任务和教师端同时显示待复习与完成数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4E6C5"/>
                </a:solidFill>
                <a:latin typeface="Microsoft YaHei"/>
              </a:rPr>
              <a:t>08 · 风险与工单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2FAFF"/>
                </a:solidFill>
                <a:latin typeface="Microsoft YaHei"/>
              </a:rPr>
              <a:t>风险解释与工单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C8B9A"/>
                </a:solidFill>
                <a:latin typeface="Microsoft YaHei"/>
              </a:rPr>
              <a:t>PLEX | Iflytek 990 | 2026-08-28 | 8/10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FF7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7D8A"/>
                </a:solidFill>
                <a:latin typeface="Microsoft YaHei"/>
              </a:rPr>
              <a:t>贡献分解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正确率、练习量、薄弱域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246120" cy="1508760"/>
          </a:xfrm>
          <a:prstGeom prst="roundRect">
            <a:avLst/>
          </a:prstGeom>
          <a:solidFill>
            <a:srgbClr val="10372F"/>
          </a:solidFill>
          <a:ln w="12700">
            <a:solidFill>
              <a:srgbClr val="7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75F3FF"/>
                </a:solidFill>
                <a:latin typeface="Microsoft YaHei"/>
              </a:rPr>
              <a:t>证据字段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feature / label / value /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3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4E6C5"/>
                </a:solidFill>
                <a:latin typeface="Microsoft YaHei"/>
              </a:rPr>
              <a:t>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预警→干预→复核→关闭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5F3FF"/>
                </a:solidFill>
                <a:latin typeface="Microsoft YaHei"/>
              </a:rPr>
              <a:t>当前是可审计贡献分解，不包装为未验证的 SHAP 训练结论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4E6C5"/>
                </a:solidFill>
                <a:latin typeface="Microsoft YaHei"/>
              </a:rPr>
              <a:t>09 · 真实教学实验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2FAFF"/>
                </a:solidFill>
                <a:latin typeface="Microsoft YaHei"/>
              </a:rPr>
              <a:t>教学实验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C8B9A"/>
                </a:solidFill>
                <a:latin typeface="Microsoft YaHei"/>
              </a:rPr>
              <a:t>PLEX | Iflytek 990 | 2026-08-28 | 9/10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6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65A9FF"/>
                </a:solidFill>
                <a:latin typeface="Microsoft YaHei"/>
              </a:rPr>
              <a:t>实验协议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前测 / 后测、时长、完成率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246120" cy="1508760"/>
          </a:xfrm>
          <a:prstGeom prst="roundRect">
            <a:avLst/>
          </a:prstGeom>
          <a:solidFill>
            <a:srgbClr val="10372F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C857"/>
                </a:solidFill>
                <a:latin typeface="Microsoft YaHei"/>
              </a:rPr>
              <a:t>当前参与者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0 人：尚未采集真实课程数据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3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4E6C5"/>
                </a:solidFill>
                <a:latin typeface="Microsoft YaHei"/>
              </a:rPr>
              <a:t>关闭条件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锁定课程→≥100 人次→统计→证明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5F3FF"/>
                </a:solidFill>
                <a:latin typeface="Microsoft YaHei"/>
              </a:rPr>
              <a:t>不以合成数据代替真实教育效果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4E6C5"/>
                </a:solidFill>
                <a:latin typeface="Microsoft YaHei"/>
              </a:rPr>
              <a:t>10 · 价值与承诺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F2FAFF"/>
                </a:solidFill>
                <a:latin typeface="Microsoft YaHei"/>
              </a:rPr>
              <a:t>价值与承诺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109728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C8B9A"/>
                </a:solidFill>
                <a:latin typeface="Microsoft YaHei"/>
              </a:rPr>
              <a:t>PLEX | Iflytek 990 | 2026-08-28 | 10/10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34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34E6C5"/>
                </a:solidFill>
                <a:latin typeface="Microsoft YaHei"/>
              </a:rPr>
              <a:t>已验证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175 后端测试
前端构建
100 节点本地防线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246120" cy="1508760"/>
          </a:xfrm>
          <a:prstGeom prst="roundRect">
            <a:avLst/>
          </a:prstGeom>
          <a:solidFill>
            <a:srgbClr val="10372F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FFC857"/>
                </a:solidFill>
                <a:latin typeface="Microsoft YaHei"/>
              </a:rPr>
              <a:t>待外部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讯飞真实调用
ASR/TTS/数字人
真实 100 人次课堂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08760"/>
            <a:ext cx="3246120" cy="1508760"/>
          </a:xfrm>
          <a:prstGeom prst="roundRect">
            <a:avLst/>
          </a:prstGeom>
          <a:solidFill>
            <a:srgbClr val="0D2433"/>
          </a:solidFill>
          <a:ln w="12700">
            <a:solidFill>
              <a:srgbClr val="65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764792"/>
            <a:ext cx="288036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00" b="1">
                <a:solidFill>
                  <a:srgbClr val="65A9FF"/>
                </a:solidFill>
                <a:latin typeface="Microsoft YaHei"/>
              </a:rPr>
              <a:t>交付物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2194560"/>
            <a:ext cx="260604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F2FAFF"/>
                </a:solidFill>
                <a:latin typeface="Microsoft YaHei"/>
              </a:rPr>
              <a:t>证据矩阵
路演 PPTX / MP4
可运行比赛版本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75F3FF"/>
                </a:solidFill>
                <a:latin typeface="Microsoft YaHei"/>
              </a:rPr>
              <a:t>统一口径：本地规则 / Mock / 真实 API 分层披露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